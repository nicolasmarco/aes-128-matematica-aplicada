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10"/>
  </p:normalViewPr>
  <p:slideViewPr>
    <p:cSldViewPr snapToGrid="0" snapToObjects="1">
      <p:cViewPr varScale="1">
        <p:scale>
          <a:sx n="93" d="100"/>
          <a:sy n="93" d="100"/>
        </p:scale>
        <p:origin x="259"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‹Nº›</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029200" cy="5029200"/>
          </a:xfrm>
          <a:prstGeom prst="ellipse">
            <a:avLst/>
          </a:prstGeom>
          <a:solidFill>
            <a:srgbClr val="065A82">
              <a:alpha val="45000"/>
            </a:srgbClr>
          </a:solidFill>
          <a:ln/>
        </p:spPr>
      </p:sp>
      <p:sp>
        <p:nvSpPr>
          <p:cNvPr id="3" name="Shape 1"/>
          <p:cNvSpPr/>
          <p:nvPr/>
        </p:nvSpPr>
        <p:spPr>
          <a:xfrm>
            <a:off x="-1645920" y="4206240"/>
            <a:ext cx="3840480" cy="3840480"/>
          </a:xfrm>
          <a:prstGeom prst="ellipse">
            <a:avLst/>
          </a:prstGeom>
          <a:solidFill>
            <a:srgbClr val="1C7293">
              <a:alpha val="40000"/>
            </a:srgbClr>
          </a:solidFill>
          <a:ln/>
        </p:spPr>
      </p:sp>
      <p:pic>
        <p:nvPicPr>
          <p:cNvPr id="4" name="Image 0" descr="icons/lock_white.png"/>
          <p:cNvPicPr>
            <a:picLocks noChangeAspect="1"/>
          </p:cNvPicPr>
          <p:nvPr/>
        </p:nvPicPr>
        <p:blipFill>
          <a:blip r:embed="rId3"/>
          <a:stretch>
            <a:fillRect/>
          </a:stretch>
        </p:blipFill>
        <p:spPr>
          <a:xfrm>
            <a:off x="594360" y="640080"/>
            <a:ext cx="502920" cy="502920"/>
          </a:xfrm>
          <a:prstGeom prst="rect">
            <a:avLst/>
          </a:prstGeom>
        </p:spPr>
      </p:pic>
      <p:sp>
        <p:nvSpPr>
          <p:cNvPr id="5" name="Text 2"/>
          <p:cNvSpPr/>
          <p:nvPr/>
        </p:nvSpPr>
        <p:spPr>
          <a:xfrm>
            <a:off x="1188720" y="621792"/>
            <a:ext cx="7315200" cy="457200"/>
          </a:xfrm>
          <a:prstGeom prst="rect">
            <a:avLst/>
          </a:prstGeom>
          <a:noFill/>
          <a:ln/>
        </p:spPr>
        <p:txBody>
          <a:bodyPr wrap="square" rtlCol="0" anchor="ctr"/>
          <a:lstStyle/>
          <a:p>
            <a:pPr marL="0" indent="0">
              <a:buNone/>
            </a:pPr>
            <a:r>
              <a:rPr lang="en-US" sz="1300" b="1" kern="0" spc="200" dirty="0">
                <a:solidFill>
                  <a:srgbClr val="8FCDE0"/>
                </a:solidFill>
                <a:latin typeface="Calibri" pitchFamily="34" charset="0"/>
                <a:ea typeface="Calibri" pitchFamily="34" charset="-122"/>
                <a:cs typeface="Calibri" pitchFamily="34" charset="-120"/>
              </a:rPr>
              <a:t>CRIPTOGRAFÍA SIMÉTRICA · UNLaM</a:t>
            </a:r>
            <a:endParaRPr lang="en-US" sz="1300" dirty="0"/>
          </a:p>
        </p:txBody>
      </p:sp>
      <p:sp>
        <p:nvSpPr>
          <p:cNvPr id="6" name="Text 3"/>
          <p:cNvSpPr/>
          <p:nvPr/>
        </p:nvSpPr>
        <p:spPr>
          <a:xfrm>
            <a:off x="594360" y="2286000"/>
            <a:ext cx="10515600" cy="2103120"/>
          </a:xfrm>
          <a:prstGeom prst="rect">
            <a:avLst/>
          </a:prstGeom>
          <a:noFill/>
          <a:ln/>
        </p:spPr>
        <p:txBody>
          <a:bodyPr wrap="square" rtlCol="0" anchor="ctr"/>
          <a:lstStyle/>
          <a:p>
            <a:pPr marL="0" indent="0">
              <a:lnSpc>
                <a:spcPts val="4800"/>
              </a:lnSpc>
              <a:buNone/>
            </a:pPr>
            <a:r>
              <a:rPr lang="en-US" sz="4200" b="1" dirty="0">
                <a:solidFill>
                  <a:srgbClr val="FFFFFF"/>
                </a:solidFill>
                <a:latin typeface="Cambria" pitchFamily="34" charset="0"/>
                <a:ea typeface="Cambria" pitchFamily="34" charset="-122"/>
                <a:cs typeface="Cambria" pitchFamily="34" charset="-120"/>
              </a:rPr>
              <a:t>AES, el cifrado que protege</a:t>
            </a:r>
            <a:endParaRPr lang="en-US" sz="4200" dirty="0"/>
          </a:p>
          <a:p>
            <a:pPr marL="0" indent="0">
              <a:lnSpc>
                <a:spcPts val="4800"/>
              </a:lnSpc>
              <a:buNone/>
            </a:pPr>
            <a:r>
              <a:rPr lang="en-US" sz="4200" b="1" dirty="0">
                <a:solidFill>
                  <a:srgbClr val="FFFFFF"/>
                </a:solidFill>
                <a:latin typeface="Cambria" pitchFamily="34" charset="0"/>
                <a:ea typeface="Cambria" pitchFamily="34" charset="-122"/>
                <a:cs typeface="Cambria" pitchFamily="34" charset="-120"/>
              </a:rPr>
              <a:t>todo lo que hacés online</a:t>
            </a:r>
            <a:endParaRPr lang="en-US" sz="4200" dirty="0"/>
          </a:p>
        </p:txBody>
      </p:sp>
      <p:sp>
        <p:nvSpPr>
          <p:cNvPr id="7" name="Text 4"/>
          <p:cNvSpPr/>
          <p:nvPr/>
        </p:nvSpPr>
        <p:spPr>
          <a:xfrm>
            <a:off x="594360" y="4343400"/>
            <a:ext cx="8686800" cy="822960"/>
          </a:xfrm>
          <a:prstGeom prst="rect">
            <a:avLst/>
          </a:prstGeom>
          <a:noFill/>
          <a:ln/>
        </p:spPr>
        <p:txBody>
          <a:bodyPr wrap="square" rtlCol="0" anchor="ctr"/>
          <a:lstStyle/>
          <a:p>
            <a:pPr marL="0" indent="0">
              <a:lnSpc>
                <a:spcPts val="2200"/>
              </a:lnSpc>
              <a:buNone/>
            </a:pPr>
            <a:r>
              <a:rPr lang="en-US" sz="1600" dirty="0">
                <a:solidFill>
                  <a:srgbClr val="C9D9E0"/>
                </a:solidFill>
                <a:latin typeface="Calibri" pitchFamily="34" charset="0"/>
                <a:ea typeface="Calibri" pitchFamily="34" charset="-122"/>
                <a:cs typeface="Calibri" pitchFamily="34" charset="-120"/>
              </a:rPr>
              <a:t>Cómo funciona por dentro el Advanced Encryption Standard, explicado sin jerga técnica — con una implementación construida desde cero.</a:t>
            </a:r>
            <a:endParaRPr lang="en-US" sz="1600" dirty="0"/>
          </a:p>
        </p:txBody>
      </p:sp>
      <p:sp>
        <p:nvSpPr>
          <p:cNvPr id="8" name="Text 5"/>
          <p:cNvSpPr/>
          <p:nvPr/>
        </p:nvSpPr>
        <p:spPr>
          <a:xfrm>
            <a:off x="594360" y="6263640"/>
            <a:ext cx="9144000" cy="365760"/>
          </a:xfrm>
          <a:prstGeom prst="rect">
            <a:avLst/>
          </a:prstGeom>
          <a:noFill/>
          <a:ln/>
        </p:spPr>
        <p:txBody>
          <a:bodyPr wrap="square" rtlCol="0" anchor="ctr"/>
          <a:lstStyle/>
          <a:p>
            <a:pPr marL="0" indent="0">
              <a:buNone/>
            </a:pPr>
            <a:r>
              <a:rPr lang="en-US" sz="1100" i="1" dirty="0">
                <a:solidFill>
                  <a:srgbClr val="8FA3AC"/>
                </a:solidFill>
                <a:latin typeface="Calibri" pitchFamily="34" charset="0"/>
                <a:ea typeface="Calibri" pitchFamily="34" charset="-122"/>
                <a:cs typeface="Calibri" pitchFamily="34" charset="-120"/>
              </a:rPr>
              <a:t>Ingeniería en Informática · Universidad Nacional de La Matanza · Matemática Aplicada</a:t>
            </a:r>
            <a:endParaRPr lang="en-US" sz="1100" dirty="0"/>
          </a:p>
        </p:txBody>
      </p:sp>
      <p:sp>
        <p:nvSpPr>
          <p:cNvPr id="9" name="Text 6"/>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DE QUÉ VAMOS A HABLAR</a:t>
            </a:r>
            <a:endParaRPr lang="en-US" sz="13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El recorrido de hoy</a:t>
            </a:r>
            <a:endParaRPr lang="en-US" sz="3000" dirty="0"/>
          </a:p>
        </p:txBody>
      </p:sp>
      <p:sp>
        <p:nvSpPr>
          <p:cNvPr id="4" name="Shape 2"/>
          <p:cNvSpPr/>
          <p:nvPr/>
        </p:nvSpPr>
        <p:spPr>
          <a:xfrm>
            <a:off x="640080" y="1874520"/>
            <a:ext cx="566928" cy="566928"/>
          </a:xfrm>
          <a:prstGeom prst="ellipse">
            <a:avLst/>
          </a:prstGeom>
          <a:solidFill>
            <a:srgbClr val="065A82"/>
          </a:solidFill>
          <a:ln/>
        </p:spPr>
      </p:sp>
      <p:sp>
        <p:nvSpPr>
          <p:cNvPr id="5" name="Text 3"/>
          <p:cNvSpPr/>
          <p:nvPr/>
        </p:nvSpPr>
        <p:spPr>
          <a:xfrm>
            <a:off x="640080" y="1874520"/>
            <a:ext cx="566928" cy="566928"/>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417320" y="1819656"/>
            <a:ext cx="5120640" cy="365760"/>
          </a:xfrm>
          <a:prstGeom prst="rect">
            <a:avLst/>
          </a:prstGeom>
          <a:noFill/>
          <a:ln/>
        </p:spPr>
        <p:txBody>
          <a:bodyPr wrap="square" rtlCol="0" anchor="ctr"/>
          <a:lstStyle/>
          <a:p>
            <a:pPr marL="0" indent="0">
              <a:buNone/>
            </a:pPr>
            <a:r>
              <a:rPr lang="en-US" sz="1700" b="1" dirty="0">
                <a:solidFill>
                  <a:srgbClr val="1F2A33"/>
                </a:solidFill>
                <a:latin typeface="Calibri" pitchFamily="34" charset="0"/>
                <a:ea typeface="Calibri" pitchFamily="34" charset="-122"/>
                <a:cs typeface="Calibri" pitchFamily="34" charset="-120"/>
              </a:rPr>
              <a:t>El problema</a:t>
            </a:r>
            <a:endParaRPr lang="en-US" sz="1700" dirty="0"/>
          </a:p>
        </p:txBody>
      </p:sp>
      <p:sp>
        <p:nvSpPr>
          <p:cNvPr id="7" name="Text 5"/>
          <p:cNvSpPr/>
          <p:nvPr/>
        </p:nvSpPr>
        <p:spPr>
          <a:xfrm>
            <a:off x="1417320" y="2167128"/>
            <a:ext cx="8961120" cy="365760"/>
          </a:xfrm>
          <a:prstGeom prst="rect">
            <a:avLst/>
          </a:prstGeom>
          <a:noFill/>
          <a:ln/>
        </p:spPr>
        <p:txBody>
          <a:bodyPr wrap="square" rtlCol="0" anchor="ctr"/>
          <a:lstStyle/>
          <a:p>
            <a:pPr marL="0" indent="0">
              <a:buNone/>
            </a:pPr>
            <a:r>
              <a:rPr lang="en-US" sz="1300" dirty="0">
                <a:solidFill>
                  <a:srgbClr val="5B6B73"/>
                </a:solidFill>
                <a:latin typeface="Calibri" pitchFamily="34" charset="0"/>
                <a:ea typeface="Calibri" pitchFamily="34" charset="-122"/>
                <a:cs typeface="Calibri" pitchFamily="34" charset="-120"/>
              </a:rPr>
              <a:t>Por qué necesitamos cifrar información</a:t>
            </a:r>
            <a:endParaRPr lang="en-US" sz="1300" dirty="0"/>
          </a:p>
        </p:txBody>
      </p:sp>
      <p:sp>
        <p:nvSpPr>
          <p:cNvPr id="8" name="Shape 6"/>
          <p:cNvSpPr/>
          <p:nvPr/>
        </p:nvSpPr>
        <p:spPr>
          <a:xfrm>
            <a:off x="640080" y="2715768"/>
            <a:ext cx="566928" cy="566928"/>
          </a:xfrm>
          <a:prstGeom prst="ellipse">
            <a:avLst/>
          </a:prstGeom>
          <a:solidFill>
            <a:srgbClr val="065A82"/>
          </a:solidFill>
          <a:ln/>
        </p:spPr>
      </p:sp>
      <p:sp>
        <p:nvSpPr>
          <p:cNvPr id="9" name="Text 7"/>
          <p:cNvSpPr/>
          <p:nvPr/>
        </p:nvSpPr>
        <p:spPr>
          <a:xfrm>
            <a:off x="640080" y="2715768"/>
            <a:ext cx="566928" cy="566928"/>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417320" y="2660904"/>
            <a:ext cx="5120640" cy="365760"/>
          </a:xfrm>
          <a:prstGeom prst="rect">
            <a:avLst/>
          </a:prstGeom>
          <a:noFill/>
          <a:ln/>
        </p:spPr>
        <p:txBody>
          <a:bodyPr wrap="square" rtlCol="0" anchor="ctr"/>
          <a:lstStyle/>
          <a:p>
            <a:pPr marL="0" indent="0">
              <a:buNone/>
            </a:pPr>
            <a:r>
              <a:rPr lang="en-US" sz="1700" b="1" dirty="0">
                <a:solidFill>
                  <a:srgbClr val="1F2A33"/>
                </a:solidFill>
                <a:latin typeface="Calibri" pitchFamily="34" charset="0"/>
                <a:ea typeface="Calibri" pitchFamily="34" charset="-122"/>
                <a:cs typeface="Calibri" pitchFamily="34" charset="-120"/>
              </a:rPr>
              <a:t>El origen de AES</a:t>
            </a:r>
            <a:endParaRPr lang="en-US" sz="1700" dirty="0"/>
          </a:p>
        </p:txBody>
      </p:sp>
      <p:sp>
        <p:nvSpPr>
          <p:cNvPr id="11" name="Text 9"/>
          <p:cNvSpPr/>
          <p:nvPr/>
        </p:nvSpPr>
        <p:spPr>
          <a:xfrm>
            <a:off x="1417320" y="3008376"/>
            <a:ext cx="8961120" cy="365760"/>
          </a:xfrm>
          <a:prstGeom prst="rect">
            <a:avLst/>
          </a:prstGeom>
          <a:noFill/>
          <a:ln/>
        </p:spPr>
        <p:txBody>
          <a:bodyPr wrap="square" rtlCol="0" anchor="ctr"/>
          <a:lstStyle/>
          <a:p>
            <a:pPr marL="0" indent="0">
              <a:buNone/>
            </a:pPr>
            <a:r>
              <a:rPr lang="en-US" sz="1300" dirty="0">
                <a:solidFill>
                  <a:srgbClr val="5B6B73"/>
                </a:solidFill>
                <a:latin typeface="Calibri" pitchFamily="34" charset="0"/>
                <a:ea typeface="Calibri" pitchFamily="34" charset="-122"/>
                <a:cs typeface="Calibri" pitchFamily="34" charset="-120"/>
              </a:rPr>
              <a:t>Cómo un concurso público eligió al ganador</a:t>
            </a:r>
            <a:endParaRPr lang="en-US" sz="1300" dirty="0"/>
          </a:p>
        </p:txBody>
      </p:sp>
      <p:sp>
        <p:nvSpPr>
          <p:cNvPr id="12" name="Shape 10"/>
          <p:cNvSpPr/>
          <p:nvPr/>
        </p:nvSpPr>
        <p:spPr>
          <a:xfrm>
            <a:off x="640080" y="3557016"/>
            <a:ext cx="566928" cy="566928"/>
          </a:xfrm>
          <a:prstGeom prst="ellipse">
            <a:avLst/>
          </a:prstGeom>
          <a:solidFill>
            <a:srgbClr val="065A82"/>
          </a:solidFill>
          <a:ln/>
        </p:spPr>
      </p:sp>
      <p:sp>
        <p:nvSpPr>
          <p:cNvPr id="13" name="Text 11"/>
          <p:cNvSpPr/>
          <p:nvPr/>
        </p:nvSpPr>
        <p:spPr>
          <a:xfrm>
            <a:off x="640080" y="3557016"/>
            <a:ext cx="566928" cy="566928"/>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1417320" y="3502152"/>
            <a:ext cx="5120640" cy="365760"/>
          </a:xfrm>
          <a:prstGeom prst="rect">
            <a:avLst/>
          </a:prstGeom>
          <a:noFill/>
          <a:ln/>
        </p:spPr>
        <p:txBody>
          <a:bodyPr wrap="square" rtlCol="0" anchor="ctr"/>
          <a:lstStyle/>
          <a:p>
            <a:pPr marL="0" indent="0">
              <a:buNone/>
            </a:pPr>
            <a:r>
              <a:rPr lang="en-US" sz="1700" b="1" dirty="0">
                <a:solidFill>
                  <a:srgbClr val="1F2A33"/>
                </a:solidFill>
                <a:latin typeface="Calibri" pitchFamily="34" charset="0"/>
                <a:ea typeface="Calibri" pitchFamily="34" charset="-122"/>
                <a:cs typeface="Calibri" pitchFamily="34" charset="-120"/>
              </a:rPr>
              <a:t>Cómo funciona por dentro</a:t>
            </a:r>
            <a:endParaRPr lang="en-US" sz="1700" dirty="0"/>
          </a:p>
        </p:txBody>
      </p:sp>
      <p:sp>
        <p:nvSpPr>
          <p:cNvPr id="15" name="Text 13"/>
          <p:cNvSpPr/>
          <p:nvPr/>
        </p:nvSpPr>
        <p:spPr>
          <a:xfrm>
            <a:off x="1417320" y="3849624"/>
            <a:ext cx="8961120" cy="365760"/>
          </a:xfrm>
          <a:prstGeom prst="rect">
            <a:avLst/>
          </a:prstGeom>
          <a:noFill/>
          <a:ln/>
        </p:spPr>
        <p:txBody>
          <a:bodyPr wrap="square" rtlCol="0" anchor="ctr"/>
          <a:lstStyle/>
          <a:p>
            <a:pPr marL="0" indent="0">
              <a:buNone/>
            </a:pPr>
            <a:r>
              <a:rPr lang="en-US" sz="1300" dirty="0">
                <a:solidFill>
                  <a:srgbClr val="5B6B73"/>
                </a:solidFill>
                <a:latin typeface="Calibri" pitchFamily="34" charset="0"/>
                <a:ea typeface="Calibri" pitchFamily="34" charset="-122"/>
                <a:cs typeface="Calibri" pitchFamily="34" charset="-120"/>
              </a:rPr>
              <a:t>Las ideas clave, sin matemática pesada</a:t>
            </a:r>
            <a:endParaRPr lang="en-US" sz="1300" dirty="0"/>
          </a:p>
        </p:txBody>
      </p:sp>
      <p:sp>
        <p:nvSpPr>
          <p:cNvPr id="16" name="Shape 14"/>
          <p:cNvSpPr/>
          <p:nvPr/>
        </p:nvSpPr>
        <p:spPr>
          <a:xfrm>
            <a:off x="640080" y="4398264"/>
            <a:ext cx="566928" cy="566928"/>
          </a:xfrm>
          <a:prstGeom prst="ellipse">
            <a:avLst/>
          </a:prstGeom>
          <a:solidFill>
            <a:srgbClr val="065A82"/>
          </a:solidFill>
          <a:ln/>
        </p:spPr>
      </p:sp>
      <p:sp>
        <p:nvSpPr>
          <p:cNvPr id="17" name="Text 15"/>
          <p:cNvSpPr/>
          <p:nvPr/>
        </p:nvSpPr>
        <p:spPr>
          <a:xfrm>
            <a:off x="640080" y="4398264"/>
            <a:ext cx="566928" cy="566928"/>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8" name="Text 16"/>
          <p:cNvSpPr/>
          <p:nvPr/>
        </p:nvSpPr>
        <p:spPr>
          <a:xfrm>
            <a:off x="1417320" y="4343400"/>
            <a:ext cx="5120640" cy="365760"/>
          </a:xfrm>
          <a:prstGeom prst="rect">
            <a:avLst/>
          </a:prstGeom>
          <a:noFill/>
          <a:ln/>
        </p:spPr>
        <p:txBody>
          <a:bodyPr wrap="square" rtlCol="0" anchor="ctr"/>
          <a:lstStyle/>
          <a:p>
            <a:pPr marL="0" indent="0">
              <a:buNone/>
            </a:pPr>
            <a:r>
              <a:rPr lang="en-US" sz="1700" b="1" dirty="0">
                <a:solidFill>
                  <a:srgbClr val="1F2A33"/>
                </a:solidFill>
                <a:latin typeface="Calibri" pitchFamily="34" charset="0"/>
                <a:ea typeface="Calibri" pitchFamily="34" charset="-122"/>
                <a:cs typeface="Calibri" pitchFamily="34" charset="-120"/>
              </a:rPr>
              <a:t>El experimento visual</a:t>
            </a:r>
            <a:endParaRPr lang="en-US" sz="1700" dirty="0"/>
          </a:p>
        </p:txBody>
      </p:sp>
      <p:sp>
        <p:nvSpPr>
          <p:cNvPr id="19" name="Text 17"/>
          <p:cNvSpPr/>
          <p:nvPr/>
        </p:nvSpPr>
        <p:spPr>
          <a:xfrm>
            <a:off x="1417320" y="4690872"/>
            <a:ext cx="8961120" cy="365760"/>
          </a:xfrm>
          <a:prstGeom prst="rect">
            <a:avLst/>
          </a:prstGeom>
          <a:noFill/>
          <a:ln/>
        </p:spPr>
        <p:txBody>
          <a:bodyPr wrap="square" rtlCol="0" anchor="ctr"/>
          <a:lstStyle/>
          <a:p>
            <a:pPr marL="0" indent="0">
              <a:buNone/>
            </a:pPr>
            <a:r>
              <a:rPr lang="en-US" sz="1300" dirty="0">
                <a:solidFill>
                  <a:srgbClr val="5B6B73"/>
                </a:solidFill>
                <a:latin typeface="Calibri" pitchFamily="34" charset="0"/>
                <a:ea typeface="Calibri" pitchFamily="34" charset="-122"/>
                <a:cs typeface="Calibri" pitchFamily="34" charset="-120"/>
              </a:rPr>
              <a:t>Una imagen que muestra por qué el modo importa</a:t>
            </a:r>
            <a:endParaRPr lang="en-US" sz="1300" dirty="0"/>
          </a:p>
        </p:txBody>
      </p:sp>
      <p:sp>
        <p:nvSpPr>
          <p:cNvPr id="20" name="Shape 18"/>
          <p:cNvSpPr/>
          <p:nvPr/>
        </p:nvSpPr>
        <p:spPr>
          <a:xfrm>
            <a:off x="640080" y="5239512"/>
            <a:ext cx="566928" cy="566928"/>
          </a:xfrm>
          <a:prstGeom prst="ellipse">
            <a:avLst/>
          </a:prstGeom>
          <a:solidFill>
            <a:srgbClr val="065A82"/>
          </a:solidFill>
          <a:ln/>
        </p:spPr>
      </p:sp>
      <p:sp>
        <p:nvSpPr>
          <p:cNvPr id="21" name="Text 19"/>
          <p:cNvSpPr/>
          <p:nvPr/>
        </p:nvSpPr>
        <p:spPr>
          <a:xfrm>
            <a:off x="640080" y="5239512"/>
            <a:ext cx="566928" cy="566928"/>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2" name="Text 20"/>
          <p:cNvSpPr/>
          <p:nvPr/>
        </p:nvSpPr>
        <p:spPr>
          <a:xfrm>
            <a:off x="1417320" y="5184648"/>
            <a:ext cx="5120640" cy="365760"/>
          </a:xfrm>
          <a:prstGeom prst="rect">
            <a:avLst/>
          </a:prstGeom>
          <a:noFill/>
          <a:ln/>
        </p:spPr>
        <p:txBody>
          <a:bodyPr wrap="square" rtlCol="0" anchor="ctr"/>
          <a:lstStyle/>
          <a:p>
            <a:pPr marL="0" indent="0">
              <a:buNone/>
            </a:pPr>
            <a:r>
              <a:rPr lang="en-US" sz="1700" b="1" dirty="0">
                <a:solidFill>
                  <a:srgbClr val="1F2A33"/>
                </a:solidFill>
                <a:latin typeface="Calibri" pitchFamily="34" charset="0"/>
                <a:ea typeface="Calibri" pitchFamily="34" charset="-122"/>
                <a:cs typeface="Calibri" pitchFamily="34" charset="-120"/>
              </a:rPr>
              <a:t>Validación y conclusiones</a:t>
            </a:r>
            <a:endParaRPr lang="en-US" sz="1700" dirty="0"/>
          </a:p>
        </p:txBody>
      </p:sp>
      <p:sp>
        <p:nvSpPr>
          <p:cNvPr id="23" name="Text 21"/>
          <p:cNvSpPr/>
          <p:nvPr/>
        </p:nvSpPr>
        <p:spPr>
          <a:xfrm>
            <a:off x="1417320" y="5532120"/>
            <a:ext cx="8961120" cy="365760"/>
          </a:xfrm>
          <a:prstGeom prst="rect">
            <a:avLst/>
          </a:prstGeom>
          <a:noFill/>
          <a:ln/>
        </p:spPr>
        <p:txBody>
          <a:bodyPr wrap="square" rtlCol="0" anchor="ctr"/>
          <a:lstStyle/>
          <a:p>
            <a:pPr marL="0" indent="0">
              <a:buNone/>
            </a:pPr>
            <a:r>
              <a:rPr lang="en-US" sz="1300" dirty="0">
                <a:solidFill>
                  <a:srgbClr val="5B6B73"/>
                </a:solidFill>
                <a:latin typeface="Calibri" pitchFamily="34" charset="0"/>
                <a:ea typeface="Calibri" pitchFamily="34" charset="-122"/>
                <a:cs typeface="Calibri" pitchFamily="34" charset="-120"/>
              </a:rPr>
              <a:t>Qué tan confiable es y qué seguiría</a:t>
            </a:r>
            <a:endParaRPr lang="en-US" sz="1300" dirty="0"/>
          </a:p>
        </p:txBody>
      </p:sp>
      <p:sp>
        <p:nvSpPr>
          <p:cNvPr id="24" name="Text 22"/>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EL PROBLEMA</a:t>
            </a:r>
            <a:endParaRPr lang="en-US" sz="13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Convertir un mensaje legible en algo ilegible</a:t>
            </a:r>
            <a:endParaRPr lang="en-US" sz="3000" dirty="0"/>
          </a:p>
        </p:txBody>
      </p:sp>
      <p:sp>
        <p:nvSpPr>
          <p:cNvPr id="4" name="Text 2"/>
          <p:cNvSpPr/>
          <p:nvPr/>
        </p:nvSpPr>
        <p:spPr>
          <a:xfrm>
            <a:off x="548640" y="1783080"/>
            <a:ext cx="6400800" cy="1554480"/>
          </a:xfrm>
          <a:prstGeom prst="rect">
            <a:avLst/>
          </a:prstGeom>
          <a:noFill/>
          <a:ln/>
        </p:spPr>
        <p:txBody>
          <a:bodyPr wrap="square" rtlCol="0" anchor="ctr"/>
          <a:lstStyle/>
          <a:p>
            <a:pPr marL="0" indent="0">
              <a:lnSpc>
                <a:spcPts val="2400"/>
              </a:lnSpc>
              <a:buNone/>
            </a:pPr>
            <a:r>
              <a:rPr lang="en-US" sz="1600" dirty="0">
                <a:solidFill>
                  <a:srgbClr val="1F2A33"/>
                </a:solidFill>
                <a:latin typeface="Calibri" pitchFamily="34" charset="0"/>
                <a:ea typeface="Calibri" pitchFamily="34" charset="-122"/>
                <a:cs typeface="Calibri" pitchFamily="34" charset="-120"/>
              </a:rPr>
              <a:t>Imaginá que guardás algo valioso en una caja con un candado. Solo quien tiene la llave puede abrirla. El cifrado simétrico funciona igual: la misma clave secreta sirve para cerrar (cifrar) y para abrir (descifrar) la información.</a:t>
            </a:r>
            <a:endParaRPr lang="en-US" sz="1600" dirty="0"/>
          </a:p>
        </p:txBody>
      </p:sp>
      <p:sp>
        <p:nvSpPr>
          <p:cNvPr id="5" name="Shape 3"/>
          <p:cNvSpPr/>
          <p:nvPr/>
        </p:nvSpPr>
        <p:spPr>
          <a:xfrm>
            <a:off x="548640" y="3657600"/>
            <a:ext cx="2286000" cy="1005840"/>
          </a:xfrm>
          <a:prstGeom prst="roundRect">
            <a:avLst>
              <a:gd name="adj" fmla="val 7273"/>
            </a:avLst>
          </a:prstGeom>
          <a:solidFill>
            <a:srgbClr val="EAF2F5"/>
          </a:solidFill>
          <a:ln/>
        </p:spPr>
      </p:sp>
      <p:sp>
        <p:nvSpPr>
          <p:cNvPr id="6" name="Text 4"/>
          <p:cNvSpPr/>
          <p:nvPr/>
        </p:nvSpPr>
        <p:spPr>
          <a:xfrm>
            <a:off x="548640" y="3657600"/>
            <a:ext cx="2286000" cy="1005840"/>
          </a:xfrm>
          <a:prstGeom prst="rect">
            <a:avLst/>
          </a:prstGeom>
          <a:noFill/>
          <a:ln/>
        </p:spPr>
        <p:txBody>
          <a:bodyPr wrap="square" rtlCol="0" anchor="ctr"/>
          <a:lstStyle/>
          <a:p>
            <a:pPr marL="0" indent="0" algn="ctr">
              <a:buNone/>
            </a:pPr>
            <a:r>
              <a:rPr lang="en-US" sz="1500" dirty="0">
                <a:solidFill>
                  <a:srgbClr val="1F2A33"/>
                </a:solidFill>
                <a:latin typeface="Courier New" pitchFamily="34" charset="0"/>
                <a:ea typeface="Courier New" pitchFamily="34" charset="-122"/>
                <a:cs typeface="Courier New" pitchFamily="34" charset="-120"/>
              </a:rPr>
              <a:t>Hola Mundo</a:t>
            </a:r>
            <a:endParaRPr lang="en-US" sz="1500" dirty="0"/>
          </a:p>
        </p:txBody>
      </p:sp>
      <p:sp>
        <p:nvSpPr>
          <p:cNvPr id="7" name="Shape 5"/>
          <p:cNvSpPr/>
          <p:nvPr/>
        </p:nvSpPr>
        <p:spPr>
          <a:xfrm>
            <a:off x="3154680" y="3886200"/>
            <a:ext cx="548640" cy="548640"/>
          </a:xfrm>
          <a:prstGeom prst="ellipse">
            <a:avLst/>
          </a:prstGeom>
          <a:solidFill>
            <a:srgbClr val="065A82"/>
          </a:solidFill>
          <a:ln/>
        </p:spPr>
      </p:sp>
      <p:pic>
        <p:nvPicPr>
          <p:cNvPr id="8" name="Image 0" descr="icons/key_white.png"/>
          <p:cNvPicPr>
            <a:picLocks noChangeAspect="1"/>
          </p:cNvPicPr>
          <p:nvPr/>
        </p:nvPicPr>
        <p:blipFill>
          <a:blip r:embed="rId3"/>
          <a:stretch>
            <a:fillRect/>
          </a:stretch>
        </p:blipFill>
        <p:spPr>
          <a:xfrm>
            <a:off x="3273552" y="4005072"/>
            <a:ext cx="310896" cy="310896"/>
          </a:xfrm>
          <a:prstGeom prst="rect">
            <a:avLst/>
          </a:prstGeom>
        </p:spPr>
      </p:pic>
      <p:sp>
        <p:nvSpPr>
          <p:cNvPr id="9" name="Shape 6"/>
          <p:cNvSpPr/>
          <p:nvPr/>
        </p:nvSpPr>
        <p:spPr>
          <a:xfrm>
            <a:off x="3840480" y="3977640"/>
            <a:ext cx="502920" cy="365760"/>
          </a:xfrm>
          <a:prstGeom prst="rightArrow">
            <a:avLst/>
          </a:prstGeom>
          <a:solidFill>
            <a:srgbClr val="1C7293"/>
          </a:solidFill>
          <a:ln/>
        </p:spPr>
      </p:sp>
      <p:sp>
        <p:nvSpPr>
          <p:cNvPr id="10" name="Shape 7"/>
          <p:cNvSpPr/>
          <p:nvPr/>
        </p:nvSpPr>
        <p:spPr>
          <a:xfrm>
            <a:off x="4572000" y="3657600"/>
            <a:ext cx="2286000" cy="1005840"/>
          </a:xfrm>
          <a:prstGeom prst="roundRect">
            <a:avLst>
              <a:gd name="adj" fmla="val 7273"/>
            </a:avLst>
          </a:prstGeom>
          <a:solidFill>
            <a:srgbClr val="21295C"/>
          </a:solidFill>
          <a:ln/>
        </p:spPr>
      </p:sp>
      <p:sp>
        <p:nvSpPr>
          <p:cNvPr id="11" name="Text 8"/>
          <p:cNvSpPr/>
          <p:nvPr/>
        </p:nvSpPr>
        <p:spPr>
          <a:xfrm>
            <a:off x="4572000" y="3657600"/>
            <a:ext cx="2286000" cy="1005840"/>
          </a:xfrm>
          <a:prstGeom prst="rect">
            <a:avLst/>
          </a:prstGeom>
          <a:noFill/>
          <a:ln/>
        </p:spPr>
        <p:txBody>
          <a:bodyPr wrap="square" rtlCol="0" anchor="ctr"/>
          <a:lstStyle/>
          <a:p>
            <a:pPr marL="0" indent="0" algn="ctr">
              <a:buNone/>
            </a:pPr>
            <a:r>
              <a:rPr lang="en-US" sz="1500" dirty="0">
                <a:solidFill>
                  <a:srgbClr val="8FCDE0"/>
                </a:solidFill>
                <a:latin typeface="Courier New" pitchFamily="34" charset="0"/>
                <a:ea typeface="Courier New" pitchFamily="34" charset="-122"/>
                <a:cs typeface="Courier New" pitchFamily="34" charset="-120"/>
              </a:rPr>
              <a:t>Xk9$fA2!qZ</a:t>
            </a:r>
            <a:endParaRPr lang="en-US" sz="1500" dirty="0"/>
          </a:p>
        </p:txBody>
      </p:sp>
      <p:sp>
        <p:nvSpPr>
          <p:cNvPr id="12" name="Text 9"/>
          <p:cNvSpPr/>
          <p:nvPr/>
        </p:nvSpPr>
        <p:spPr>
          <a:xfrm>
            <a:off x="548640" y="4736592"/>
            <a:ext cx="2286000" cy="274320"/>
          </a:xfrm>
          <a:prstGeom prst="rect">
            <a:avLst/>
          </a:prstGeom>
          <a:noFill/>
          <a:ln/>
        </p:spPr>
        <p:txBody>
          <a:bodyPr wrap="square" rtlCol="0" anchor="ctr"/>
          <a:lstStyle/>
          <a:p>
            <a:pPr marL="0" indent="0" algn="ctr">
              <a:buNone/>
            </a:pPr>
            <a:r>
              <a:rPr lang="en-US" sz="1100" i="1" dirty="0">
                <a:solidFill>
                  <a:srgbClr val="5B6B73"/>
                </a:solidFill>
                <a:latin typeface="Calibri" pitchFamily="34" charset="0"/>
                <a:ea typeface="Calibri" pitchFamily="34" charset="-122"/>
                <a:cs typeface="Calibri" pitchFamily="34" charset="-120"/>
              </a:rPr>
              <a:t>texto plano</a:t>
            </a:r>
            <a:endParaRPr lang="en-US" sz="1100" dirty="0"/>
          </a:p>
        </p:txBody>
      </p:sp>
      <p:sp>
        <p:nvSpPr>
          <p:cNvPr id="13" name="Text 10"/>
          <p:cNvSpPr/>
          <p:nvPr/>
        </p:nvSpPr>
        <p:spPr>
          <a:xfrm>
            <a:off x="4572000" y="4736592"/>
            <a:ext cx="2286000" cy="274320"/>
          </a:xfrm>
          <a:prstGeom prst="rect">
            <a:avLst/>
          </a:prstGeom>
          <a:noFill/>
          <a:ln/>
        </p:spPr>
        <p:txBody>
          <a:bodyPr wrap="square" rtlCol="0" anchor="ctr"/>
          <a:lstStyle/>
          <a:p>
            <a:pPr marL="0" indent="0" algn="ctr">
              <a:buNone/>
            </a:pPr>
            <a:r>
              <a:rPr lang="en-US" sz="1100" i="1" dirty="0">
                <a:solidFill>
                  <a:srgbClr val="5B6B73"/>
                </a:solidFill>
                <a:latin typeface="Calibri" pitchFamily="34" charset="0"/>
                <a:ea typeface="Calibri" pitchFamily="34" charset="-122"/>
                <a:cs typeface="Calibri" pitchFamily="34" charset="-120"/>
              </a:rPr>
              <a:t>texto cifrado</a:t>
            </a:r>
            <a:endParaRPr lang="en-US" sz="1100" dirty="0"/>
          </a:p>
        </p:txBody>
      </p:sp>
      <p:sp>
        <p:nvSpPr>
          <p:cNvPr id="14" name="Shape 11"/>
          <p:cNvSpPr/>
          <p:nvPr/>
        </p:nvSpPr>
        <p:spPr>
          <a:xfrm>
            <a:off x="7360920" y="1783080"/>
            <a:ext cx="4297680" cy="3154680"/>
          </a:xfrm>
          <a:prstGeom prst="roundRect">
            <a:avLst>
              <a:gd name="adj" fmla="val 2899"/>
            </a:avLst>
          </a:prstGeom>
          <a:solidFill>
            <a:srgbClr val="EAF2F5"/>
          </a:solidFill>
          <a:ln/>
          <a:effectLst>
            <a:outerShdw blurRad="101600" dist="38100" dir="5400000" algn="bl" rotWithShape="0">
              <a:srgbClr val="000000">
                <a:alpha val="10000"/>
              </a:srgbClr>
            </a:outerShdw>
          </a:effectLst>
        </p:spPr>
      </p:sp>
      <p:sp>
        <p:nvSpPr>
          <p:cNvPr id="15" name="Text 12"/>
          <p:cNvSpPr/>
          <p:nvPr/>
        </p:nvSpPr>
        <p:spPr>
          <a:xfrm>
            <a:off x="7635240" y="1965960"/>
            <a:ext cx="3749040" cy="548640"/>
          </a:xfrm>
          <a:prstGeom prst="rect">
            <a:avLst/>
          </a:prstGeom>
          <a:noFill/>
          <a:ln/>
        </p:spPr>
        <p:txBody>
          <a:bodyPr wrap="square" rtlCol="0" anchor="ctr"/>
          <a:lstStyle/>
          <a:p>
            <a:pPr marL="0" indent="0">
              <a:buNone/>
            </a:pPr>
            <a:r>
              <a:rPr lang="en-US" sz="1500" b="1" dirty="0">
                <a:solidFill>
                  <a:srgbClr val="21295C"/>
                </a:solidFill>
                <a:latin typeface="Calibri" pitchFamily="34" charset="0"/>
                <a:ea typeface="Calibri" pitchFamily="34" charset="-122"/>
                <a:cs typeface="Calibri" pitchFamily="34" charset="-120"/>
              </a:rPr>
              <a:t>¿Por qué no usar siempre clave pública?</a:t>
            </a:r>
            <a:endParaRPr lang="en-US" sz="1500" dirty="0"/>
          </a:p>
        </p:txBody>
      </p:sp>
      <p:sp>
        <p:nvSpPr>
          <p:cNvPr id="16" name="Text 13"/>
          <p:cNvSpPr/>
          <p:nvPr/>
        </p:nvSpPr>
        <p:spPr>
          <a:xfrm>
            <a:off x="7635240" y="2514600"/>
            <a:ext cx="3749040" cy="2194560"/>
          </a:xfrm>
          <a:prstGeom prst="rect">
            <a:avLst/>
          </a:prstGeom>
          <a:noFill/>
          <a:ln/>
        </p:spPr>
        <p:txBody>
          <a:bodyPr wrap="square" rtlCol="0" anchor="ctr"/>
          <a:lstStyle/>
          <a:p>
            <a:pPr marL="0" indent="0">
              <a:lnSpc>
                <a:spcPts val="1900"/>
              </a:lnSpc>
              <a:buNone/>
            </a:pPr>
            <a:r>
              <a:rPr lang="en-US" sz="1350" dirty="0">
                <a:solidFill>
                  <a:srgbClr val="1F2A33"/>
                </a:solidFill>
                <a:latin typeface="Calibri" pitchFamily="34" charset="0"/>
                <a:ea typeface="Calibri" pitchFamily="34" charset="-122"/>
                <a:cs typeface="Calibri" pitchFamily="34" charset="-120"/>
              </a:rPr>
              <a:t>Porque la clave compartida (simétrica) es muchísimo más rápida de calcular. Por eso es la elegida para cifrar archivos enteros, discos o el tráfico de una red — no solo un mensaje corto.</a:t>
            </a:r>
            <a:endParaRPr lang="en-US" sz="1350" dirty="0"/>
          </a:p>
        </p:txBody>
      </p:sp>
      <p:sp>
        <p:nvSpPr>
          <p:cNvPr id="17" name="Text 14"/>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UN POCO DE HISTORIA</a:t>
            </a:r>
            <a:endParaRPr lang="en-US" sz="13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De un estándar roto a un concurso mundial</a:t>
            </a:r>
            <a:endParaRPr lang="en-US" sz="3000" dirty="0"/>
          </a:p>
        </p:txBody>
      </p:sp>
      <p:sp>
        <p:nvSpPr>
          <p:cNvPr id="4" name="Shape 2"/>
          <p:cNvSpPr/>
          <p:nvPr/>
        </p:nvSpPr>
        <p:spPr>
          <a:xfrm>
            <a:off x="548640" y="1965960"/>
            <a:ext cx="2542032" cy="3246120"/>
          </a:xfrm>
          <a:prstGeom prst="roundRect">
            <a:avLst>
              <a:gd name="adj" fmla="val 3597"/>
            </a:avLst>
          </a:prstGeom>
          <a:solidFill>
            <a:srgbClr val="EAF2F5"/>
          </a:solidFill>
          <a:ln/>
          <a:effectLst>
            <a:outerShdw blurRad="76200" dist="25400" dir="5400000" algn="bl" rotWithShape="0">
              <a:srgbClr val="000000">
                <a:alpha val="8000"/>
              </a:srgbClr>
            </a:outerShdw>
          </a:effectLst>
        </p:spPr>
      </p:sp>
      <p:sp>
        <p:nvSpPr>
          <p:cNvPr id="5" name="Text 3"/>
          <p:cNvSpPr/>
          <p:nvPr/>
        </p:nvSpPr>
        <p:spPr>
          <a:xfrm>
            <a:off x="731520" y="2194560"/>
            <a:ext cx="2176272" cy="457200"/>
          </a:xfrm>
          <a:prstGeom prst="rect">
            <a:avLst/>
          </a:prstGeom>
          <a:noFill/>
          <a:ln/>
        </p:spPr>
        <p:txBody>
          <a:bodyPr wrap="square" rtlCol="0" anchor="ctr"/>
          <a:lstStyle/>
          <a:p>
            <a:pPr marL="0" indent="0">
              <a:buNone/>
            </a:pPr>
            <a:r>
              <a:rPr lang="en-US" sz="2000" b="1" dirty="0">
                <a:solidFill>
                  <a:srgbClr val="065A82"/>
                </a:solidFill>
                <a:latin typeface="Cambria" pitchFamily="34" charset="0"/>
                <a:ea typeface="Cambria" pitchFamily="34" charset="-122"/>
                <a:cs typeface="Cambria" pitchFamily="34" charset="-120"/>
              </a:rPr>
              <a:t>1977</a:t>
            </a:r>
            <a:endParaRPr lang="en-US" sz="2000" dirty="0"/>
          </a:p>
        </p:txBody>
      </p:sp>
      <p:sp>
        <p:nvSpPr>
          <p:cNvPr id="6" name="Text 4"/>
          <p:cNvSpPr/>
          <p:nvPr/>
        </p:nvSpPr>
        <p:spPr>
          <a:xfrm>
            <a:off x="731520" y="2743200"/>
            <a:ext cx="2176272" cy="548640"/>
          </a:xfrm>
          <a:prstGeom prst="rect">
            <a:avLst/>
          </a:prstGeom>
          <a:noFill/>
          <a:ln/>
        </p:spPr>
        <p:txBody>
          <a:bodyPr wrap="square" rtlCol="0" anchor="ctr"/>
          <a:lstStyle/>
          <a:p>
            <a:pPr marL="0" indent="0">
              <a:buNone/>
            </a:pPr>
            <a:r>
              <a:rPr lang="en-US" sz="1500" b="1" dirty="0">
                <a:solidFill>
                  <a:srgbClr val="21295C"/>
                </a:solidFill>
                <a:latin typeface="Calibri" pitchFamily="34" charset="0"/>
                <a:ea typeface="Calibri" pitchFamily="34" charset="-122"/>
                <a:cs typeface="Calibri" pitchFamily="34" charset="-120"/>
              </a:rPr>
              <a:t>DES nace</a:t>
            </a:r>
            <a:endParaRPr lang="en-US" sz="1500" dirty="0"/>
          </a:p>
        </p:txBody>
      </p:sp>
      <p:sp>
        <p:nvSpPr>
          <p:cNvPr id="7" name="Text 5"/>
          <p:cNvSpPr/>
          <p:nvPr/>
        </p:nvSpPr>
        <p:spPr>
          <a:xfrm>
            <a:off x="731520" y="3337560"/>
            <a:ext cx="2176272" cy="1737360"/>
          </a:xfrm>
          <a:prstGeom prst="rect">
            <a:avLst/>
          </a:prstGeom>
          <a:noFill/>
          <a:ln/>
        </p:spPr>
        <p:txBody>
          <a:bodyPr wrap="square" rtlCol="0" anchor="ctr"/>
          <a:lstStyle/>
          <a:p>
            <a:pPr marL="0" indent="0">
              <a:lnSpc>
                <a:spcPts val="1700"/>
              </a:lnSpc>
              <a:buNone/>
            </a:pPr>
            <a:r>
              <a:rPr lang="en-US" sz="1250" dirty="0">
                <a:solidFill>
                  <a:srgbClr val="1F2A33"/>
                </a:solidFill>
                <a:latin typeface="Calibri" pitchFamily="34" charset="0"/>
                <a:ea typeface="Calibri" pitchFamily="34" charset="-122"/>
                <a:cs typeface="Calibri" pitchFamily="34" charset="-120"/>
              </a:rPr>
              <a:t>Estándar de EE.UU. con clave de 56 bits — segura para su época.</a:t>
            </a:r>
            <a:endParaRPr lang="en-US" sz="1250" dirty="0"/>
          </a:p>
        </p:txBody>
      </p:sp>
      <p:sp>
        <p:nvSpPr>
          <p:cNvPr id="8" name="Shape 6"/>
          <p:cNvSpPr/>
          <p:nvPr/>
        </p:nvSpPr>
        <p:spPr>
          <a:xfrm>
            <a:off x="3319272" y="1965960"/>
            <a:ext cx="2542032" cy="3246120"/>
          </a:xfrm>
          <a:prstGeom prst="roundRect">
            <a:avLst>
              <a:gd name="adj" fmla="val 3597"/>
            </a:avLst>
          </a:prstGeom>
          <a:solidFill>
            <a:srgbClr val="EAF2F5"/>
          </a:solidFill>
          <a:ln/>
          <a:effectLst>
            <a:outerShdw blurRad="76200" dist="25400" dir="5400000" algn="bl" rotWithShape="0">
              <a:srgbClr val="000000">
                <a:alpha val="8000"/>
              </a:srgbClr>
            </a:outerShdw>
          </a:effectLst>
        </p:spPr>
      </p:sp>
      <p:sp>
        <p:nvSpPr>
          <p:cNvPr id="9" name="Text 7"/>
          <p:cNvSpPr/>
          <p:nvPr/>
        </p:nvSpPr>
        <p:spPr>
          <a:xfrm>
            <a:off x="3502152" y="2194560"/>
            <a:ext cx="2176272" cy="457200"/>
          </a:xfrm>
          <a:prstGeom prst="rect">
            <a:avLst/>
          </a:prstGeom>
          <a:noFill/>
          <a:ln/>
        </p:spPr>
        <p:txBody>
          <a:bodyPr wrap="square" rtlCol="0" anchor="ctr"/>
          <a:lstStyle/>
          <a:p>
            <a:pPr marL="0" indent="0">
              <a:buNone/>
            </a:pPr>
            <a:r>
              <a:rPr lang="en-US" sz="2000" b="1" dirty="0">
                <a:solidFill>
                  <a:srgbClr val="065A82"/>
                </a:solidFill>
                <a:latin typeface="Cambria" pitchFamily="34" charset="0"/>
                <a:ea typeface="Cambria" pitchFamily="34" charset="-122"/>
                <a:cs typeface="Cambria" pitchFamily="34" charset="-120"/>
              </a:rPr>
              <a:t>1998</a:t>
            </a:r>
            <a:endParaRPr lang="en-US" sz="2000" dirty="0"/>
          </a:p>
        </p:txBody>
      </p:sp>
      <p:sp>
        <p:nvSpPr>
          <p:cNvPr id="10" name="Text 8"/>
          <p:cNvSpPr/>
          <p:nvPr/>
        </p:nvSpPr>
        <p:spPr>
          <a:xfrm>
            <a:off x="3502152" y="2743200"/>
            <a:ext cx="2176272" cy="548640"/>
          </a:xfrm>
          <a:prstGeom prst="rect">
            <a:avLst/>
          </a:prstGeom>
          <a:noFill/>
          <a:ln/>
        </p:spPr>
        <p:txBody>
          <a:bodyPr wrap="square" rtlCol="0" anchor="ctr"/>
          <a:lstStyle/>
          <a:p>
            <a:pPr marL="0" indent="0">
              <a:buNone/>
            </a:pPr>
            <a:r>
              <a:rPr lang="en-US" sz="1500" b="1" dirty="0">
                <a:solidFill>
                  <a:srgbClr val="21295C"/>
                </a:solidFill>
                <a:latin typeface="Calibri" pitchFamily="34" charset="0"/>
                <a:ea typeface="Calibri" pitchFamily="34" charset="-122"/>
                <a:cs typeface="Calibri" pitchFamily="34" charset="-120"/>
              </a:rPr>
              <a:t>DES cae</a:t>
            </a:r>
            <a:endParaRPr lang="en-US" sz="1500" dirty="0"/>
          </a:p>
        </p:txBody>
      </p:sp>
      <p:sp>
        <p:nvSpPr>
          <p:cNvPr id="11" name="Text 9"/>
          <p:cNvSpPr/>
          <p:nvPr/>
        </p:nvSpPr>
        <p:spPr>
          <a:xfrm>
            <a:off x="3502152" y="3337560"/>
            <a:ext cx="2176272" cy="1737360"/>
          </a:xfrm>
          <a:prstGeom prst="rect">
            <a:avLst/>
          </a:prstGeom>
          <a:noFill/>
          <a:ln/>
        </p:spPr>
        <p:txBody>
          <a:bodyPr wrap="square" rtlCol="0" anchor="ctr"/>
          <a:lstStyle/>
          <a:p>
            <a:pPr marL="0" indent="0">
              <a:lnSpc>
                <a:spcPts val="1700"/>
              </a:lnSpc>
              <a:buNone/>
            </a:pPr>
            <a:r>
              <a:rPr lang="en-US" sz="1250" dirty="0">
                <a:solidFill>
                  <a:srgbClr val="1F2A33"/>
                </a:solidFill>
                <a:latin typeface="Calibri" pitchFamily="34" charset="0"/>
                <a:ea typeface="Calibri" pitchFamily="34" charset="-122"/>
                <a:cs typeface="Calibri" pitchFamily="34" charset="-120"/>
              </a:rPr>
              <a:t>Una máquina especializada la rompe en menos de 3 días.</a:t>
            </a:r>
            <a:endParaRPr lang="en-US" sz="1250" dirty="0"/>
          </a:p>
        </p:txBody>
      </p:sp>
      <p:sp>
        <p:nvSpPr>
          <p:cNvPr id="12" name="Shape 10"/>
          <p:cNvSpPr/>
          <p:nvPr/>
        </p:nvSpPr>
        <p:spPr>
          <a:xfrm>
            <a:off x="6089904" y="1965960"/>
            <a:ext cx="2542032" cy="3246120"/>
          </a:xfrm>
          <a:prstGeom prst="roundRect">
            <a:avLst>
              <a:gd name="adj" fmla="val 3597"/>
            </a:avLst>
          </a:prstGeom>
          <a:solidFill>
            <a:srgbClr val="065A82"/>
          </a:solidFill>
          <a:ln/>
          <a:effectLst>
            <a:outerShdw blurRad="76200" dist="25400" dir="5400000" algn="bl" rotWithShape="0">
              <a:srgbClr val="000000">
                <a:alpha val="8000"/>
              </a:srgbClr>
            </a:outerShdw>
          </a:effectLst>
        </p:spPr>
      </p:sp>
      <p:sp>
        <p:nvSpPr>
          <p:cNvPr id="13" name="Text 11"/>
          <p:cNvSpPr/>
          <p:nvPr/>
        </p:nvSpPr>
        <p:spPr>
          <a:xfrm>
            <a:off x="6272784" y="2194560"/>
            <a:ext cx="2176272" cy="457200"/>
          </a:xfrm>
          <a:prstGeom prst="rect">
            <a:avLst/>
          </a:prstGeom>
          <a:noFill/>
          <a:ln/>
        </p:spPr>
        <p:txBody>
          <a:bodyPr wrap="square" rtlCol="0" anchor="ctr"/>
          <a:lstStyle/>
          <a:p>
            <a:pPr marL="0" indent="0">
              <a:buNone/>
            </a:pPr>
            <a:r>
              <a:rPr lang="en-US" sz="2000" b="1" dirty="0">
                <a:solidFill>
                  <a:srgbClr val="8FCDE0"/>
                </a:solidFill>
                <a:latin typeface="Cambria" pitchFamily="34" charset="0"/>
                <a:ea typeface="Cambria" pitchFamily="34" charset="-122"/>
                <a:cs typeface="Cambria" pitchFamily="34" charset="-120"/>
              </a:rPr>
              <a:t>1997-2000</a:t>
            </a:r>
            <a:endParaRPr lang="en-US" sz="2000" dirty="0"/>
          </a:p>
        </p:txBody>
      </p:sp>
      <p:sp>
        <p:nvSpPr>
          <p:cNvPr id="14" name="Text 12"/>
          <p:cNvSpPr/>
          <p:nvPr/>
        </p:nvSpPr>
        <p:spPr>
          <a:xfrm>
            <a:off x="6272784" y="2743200"/>
            <a:ext cx="2176272" cy="5486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Concurso del NIST</a:t>
            </a:r>
            <a:endParaRPr lang="en-US" sz="1500" dirty="0"/>
          </a:p>
        </p:txBody>
      </p:sp>
      <p:sp>
        <p:nvSpPr>
          <p:cNvPr id="15" name="Text 13"/>
          <p:cNvSpPr/>
          <p:nvPr/>
        </p:nvSpPr>
        <p:spPr>
          <a:xfrm>
            <a:off x="6272784" y="3337560"/>
            <a:ext cx="2176272" cy="1737360"/>
          </a:xfrm>
          <a:prstGeom prst="rect">
            <a:avLst/>
          </a:prstGeom>
          <a:noFill/>
          <a:ln/>
        </p:spPr>
        <p:txBody>
          <a:bodyPr wrap="square" rtlCol="0" anchor="ctr"/>
          <a:lstStyle/>
          <a:p>
            <a:pPr marL="0" indent="0">
              <a:lnSpc>
                <a:spcPts val="1700"/>
              </a:lnSpc>
              <a:buNone/>
            </a:pPr>
            <a:r>
              <a:rPr lang="en-US" sz="1250" dirty="0">
                <a:solidFill>
                  <a:srgbClr val="D8E8EE"/>
                </a:solidFill>
                <a:latin typeface="Calibri" pitchFamily="34" charset="0"/>
                <a:ea typeface="Calibri" pitchFamily="34" charset="-122"/>
                <a:cs typeface="Calibri" pitchFamily="34" charset="-120"/>
              </a:rPr>
              <a:t>15 algoritmos compiten en público; gana Rijndael.</a:t>
            </a:r>
            <a:endParaRPr lang="en-US" sz="1250" dirty="0"/>
          </a:p>
        </p:txBody>
      </p:sp>
      <p:sp>
        <p:nvSpPr>
          <p:cNvPr id="16" name="Shape 14"/>
          <p:cNvSpPr/>
          <p:nvPr/>
        </p:nvSpPr>
        <p:spPr>
          <a:xfrm>
            <a:off x="8860536" y="1965960"/>
            <a:ext cx="2542032" cy="3246120"/>
          </a:xfrm>
          <a:prstGeom prst="roundRect">
            <a:avLst>
              <a:gd name="adj" fmla="val 3597"/>
            </a:avLst>
          </a:prstGeom>
          <a:solidFill>
            <a:srgbClr val="EAF2F5"/>
          </a:solidFill>
          <a:ln/>
          <a:effectLst>
            <a:outerShdw blurRad="76200" dist="25400" dir="5400000" algn="bl" rotWithShape="0">
              <a:srgbClr val="000000">
                <a:alpha val="8000"/>
              </a:srgbClr>
            </a:outerShdw>
          </a:effectLst>
        </p:spPr>
      </p:sp>
      <p:sp>
        <p:nvSpPr>
          <p:cNvPr id="17" name="Text 15"/>
          <p:cNvSpPr/>
          <p:nvPr/>
        </p:nvSpPr>
        <p:spPr>
          <a:xfrm>
            <a:off x="9043416" y="2194560"/>
            <a:ext cx="2176272" cy="457200"/>
          </a:xfrm>
          <a:prstGeom prst="rect">
            <a:avLst/>
          </a:prstGeom>
          <a:noFill/>
          <a:ln/>
        </p:spPr>
        <p:txBody>
          <a:bodyPr wrap="square" rtlCol="0" anchor="ctr"/>
          <a:lstStyle/>
          <a:p>
            <a:pPr marL="0" indent="0">
              <a:buNone/>
            </a:pPr>
            <a:r>
              <a:rPr lang="en-US" sz="2000" b="1" dirty="0">
                <a:solidFill>
                  <a:srgbClr val="065A82"/>
                </a:solidFill>
                <a:latin typeface="Cambria" pitchFamily="34" charset="0"/>
                <a:ea typeface="Cambria" pitchFamily="34" charset="-122"/>
                <a:cs typeface="Cambria" pitchFamily="34" charset="-120"/>
              </a:rPr>
              <a:t>2001</a:t>
            </a:r>
            <a:endParaRPr lang="en-US" sz="2000" dirty="0"/>
          </a:p>
        </p:txBody>
      </p:sp>
      <p:sp>
        <p:nvSpPr>
          <p:cNvPr id="18" name="Text 16"/>
          <p:cNvSpPr/>
          <p:nvPr/>
        </p:nvSpPr>
        <p:spPr>
          <a:xfrm>
            <a:off x="9043416" y="2743200"/>
            <a:ext cx="2176272" cy="548640"/>
          </a:xfrm>
          <a:prstGeom prst="rect">
            <a:avLst/>
          </a:prstGeom>
          <a:noFill/>
          <a:ln/>
        </p:spPr>
        <p:txBody>
          <a:bodyPr wrap="square" rtlCol="0" anchor="ctr"/>
          <a:lstStyle/>
          <a:p>
            <a:pPr marL="0" indent="0">
              <a:buNone/>
            </a:pPr>
            <a:r>
              <a:rPr lang="en-US" sz="1500" b="1" dirty="0">
                <a:solidFill>
                  <a:srgbClr val="21295C"/>
                </a:solidFill>
                <a:latin typeface="Calibri" pitchFamily="34" charset="0"/>
                <a:ea typeface="Calibri" pitchFamily="34" charset="-122"/>
                <a:cs typeface="Calibri" pitchFamily="34" charset="-120"/>
              </a:rPr>
              <a:t>Nace AES</a:t>
            </a:r>
            <a:endParaRPr lang="en-US" sz="1500" dirty="0"/>
          </a:p>
        </p:txBody>
      </p:sp>
      <p:sp>
        <p:nvSpPr>
          <p:cNvPr id="19" name="Text 17"/>
          <p:cNvSpPr/>
          <p:nvPr/>
        </p:nvSpPr>
        <p:spPr>
          <a:xfrm>
            <a:off x="9043416" y="3337560"/>
            <a:ext cx="2176272" cy="1737360"/>
          </a:xfrm>
          <a:prstGeom prst="rect">
            <a:avLst/>
          </a:prstGeom>
          <a:noFill/>
          <a:ln/>
        </p:spPr>
        <p:txBody>
          <a:bodyPr wrap="square" rtlCol="0" anchor="ctr"/>
          <a:lstStyle/>
          <a:p>
            <a:pPr marL="0" indent="0">
              <a:lnSpc>
                <a:spcPts val="1700"/>
              </a:lnSpc>
              <a:buNone/>
            </a:pPr>
            <a:r>
              <a:rPr lang="en-US" sz="1250" dirty="0">
                <a:solidFill>
                  <a:srgbClr val="1F2A33"/>
                </a:solidFill>
                <a:latin typeface="Calibri" pitchFamily="34" charset="0"/>
                <a:ea typeface="Calibri" pitchFamily="34" charset="-122"/>
                <a:cs typeface="Calibri" pitchFamily="34" charset="-120"/>
              </a:rPr>
              <a:t>Se publica como estándar oficial FIPS-197.</a:t>
            </a:r>
            <a:endParaRPr lang="en-US" sz="1250" dirty="0"/>
          </a:p>
        </p:txBody>
      </p:sp>
      <p:sp>
        <p:nvSpPr>
          <p:cNvPr id="20" name="Text 18"/>
          <p:cNvSpPr/>
          <p:nvPr/>
        </p:nvSpPr>
        <p:spPr>
          <a:xfrm>
            <a:off x="548640" y="5486400"/>
            <a:ext cx="10789920" cy="457200"/>
          </a:xfrm>
          <a:prstGeom prst="rect">
            <a:avLst/>
          </a:prstGeom>
          <a:noFill/>
          <a:ln/>
        </p:spPr>
        <p:txBody>
          <a:bodyPr wrap="square" rtlCol="0" anchor="ctr"/>
          <a:lstStyle/>
          <a:p>
            <a:pPr marL="0" indent="0">
              <a:buNone/>
            </a:pPr>
            <a:r>
              <a:rPr lang="en-US" sz="1300" i="1" dirty="0">
                <a:solidFill>
                  <a:srgbClr val="5B6B73"/>
                </a:solidFill>
                <a:latin typeface="Calibri" pitchFamily="34" charset="0"/>
                <a:ea typeface="Calibri" pitchFamily="34" charset="-122"/>
                <a:cs typeface="Calibri" pitchFamily="34" charset="-120"/>
              </a:rPr>
              <a:t>Dato curioso: el diseño ganador fue de dos investigadores belgas, Joan Daemen y Vincent Rijmen — de ahí el nombre original “Rijndael”.</a:t>
            </a:r>
            <a:endParaRPr lang="en-US" sz="1300" dirty="0"/>
          </a:p>
        </p:txBody>
      </p:sp>
      <p:sp>
        <p:nvSpPr>
          <p:cNvPr id="21" name="Text 19"/>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EL PROTAGONISTA</a:t>
            </a:r>
            <a:endParaRPr lang="en-US" sz="13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¿Qué es AES?</a:t>
            </a:r>
            <a:endParaRPr lang="en-US" sz="3000" dirty="0"/>
          </a:p>
        </p:txBody>
      </p:sp>
      <p:sp>
        <p:nvSpPr>
          <p:cNvPr id="4" name="Shape 2"/>
          <p:cNvSpPr/>
          <p:nvPr/>
        </p:nvSpPr>
        <p:spPr>
          <a:xfrm>
            <a:off x="548640" y="1783080"/>
            <a:ext cx="5120640" cy="3291840"/>
          </a:xfrm>
          <a:prstGeom prst="roundRect">
            <a:avLst>
              <a:gd name="adj" fmla="val 2778"/>
            </a:avLst>
          </a:prstGeom>
          <a:solidFill>
            <a:srgbClr val="21295C"/>
          </a:solidFill>
          <a:ln/>
        </p:spPr>
      </p:sp>
      <p:sp>
        <p:nvSpPr>
          <p:cNvPr id="5" name="Text 3"/>
          <p:cNvSpPr/>
          <p:nvPr/>
        </p:nvSpPr>
        <p:spPr>
          <a:xfrm>
            <a:off x="868680" y="2011680"/>
            <a:ext cx="4480560" cy="1188720"/>
          </a:xfrm>
          <a:prstGeom prst="rect">
            <a:avLst/>
          </a:prstGeom>
          <a:noFill/>
          <a:ln/>
        </p:spPr>
        <p:txBody>
          <a:bodyPr wrap="square" rtlCol="0" anchor="ctr"/>
          <a:lstStyle/>
          <a:p>
            <a:pPr marL="0" indent="0">
              <a:lnSpc>
                <a:spcPts val="2200"/>
              </a:lnSpc>
              <a:buNone/>
            </a:pPr>
            <a:r>
              <a:rPr lang="en-US" sz="1600" dirty="0">
                <a:solidFill>
                  <a:srgbClr val="FFFFFF"/>
                </a:solidFill>
                <a:latin typeface="Calibri" pitchFamily="34" charset="0"/>
                <a:ea typeface="Calibri" pitchFamily="34" charset="-122"/>
                <a:cs typeface="Calibri" pitchFamily="34" charset="-120"/>
              </a:rPr>
              <a:t>AES cifra la información en “paquetes” fijos de 128 bits (16 bytes) por vez, siempre con la misma clave secreta.</a:t>
            </a:r>
            <a:endParaRPr lang="en-US" sz="1600" dirty="0"/>
          </a:p>
        </p:txBody>
      </p:sp>
      <p:sp>
        <p:nvSpPr>
          <p:cNvPr id="6" name="Text 4"/>
          <p:cNvSpPr/>
          <p:nvPr/>
        </p:nvSpPr>
        <p:spPr>
          <a:xfrm>
            <a:off x="868680" y="3337560"/>
            <a:ext cx="4480560" cy="1554480"/>
          </a:xfrm>
          <a:prstGeom prst="rect">
            <a:avLst/>
          </a:prstGeom>
          <a:noFill/>
          <a:ln/>
        </p:spPr>
        <p:txBody>
          <a:bodyPr wrap="square" rtlCol="0" anchor="ctr"/>
          <a:lstStyle/>
          <a:p>
            <a:pPr marL="0" indent="0">
              <a:lnSpc>
                <a:spcPts val="1900"/>
              </a:lnSpc>
              <a:buNone/>
            </a:pPr>
            <a:r>
              <a:rPr lang="en-US" sz="1350" i="1" dirty="0">
                <a:solidFill>
                  <a:srgbClr val="C9D9E0"/>
                </a:solidFill>
                <a:latin typeface="Calibri" pitchFamily="34" charset="0"/>
                <a:ea typeface="Calibri" pitchFamily="34" charset="-122"/>
                <a:cs typeface="Calibri" pitchFamily="34" charset="-120"/>
              </a:rPr>
              <a:t>Solo </a:t>
            </a:r>
            <a:r>
              <a:rPr lang="en-US" sz="1350" i="1" dirty="0" err="1">
                <a:solidFill>
                  <a:srgbClr val="C9D9E0"/>
                </a:solidFill>
                <a:latin typeface="Calibri" pitchFamily="34" charset="0"/>
                <a:ea typeface="Calibri" pitchFamily="34" charset="-122"/>
                <a:cs typeface="Calibri" pitchFamily="34" charset="-120"/>
              </a:rPr>
              <a:t>acepta</a:t>
            </a:r>
            <a:r>
              <a:rPr lang="en-US" sz="1350" i="1" dirty="0">
                <a:solidFill>
                  <a:srgbClr val="C9D9E0"/>
                </a:solidFill>
                <a:latin typeface="Calibri" pitchFamily="34" charset="0"/>
                <a:ea typeface="Calibri" pitchFamily="34" charset="-122"/>
                <a:cs typeface="Calibri" pitchFamily="34" charset="-120"/>
              </a:rPr>
              <a:t> </a:t>
            </a:r>
            <a:r>
              <a:rPr lang="en-US" sz="1350" i="1" dirty="0" err="1">
                <a:solidFill>
                  <a:srgbClr val="C9D9E0"/>
                </a:solidFill>
                <a:latin typeface="Calibri" pitchFamily="34" charset="0"/>
                <a:ea typeface="Calibri" pitchFamily="34" charset="-122"/>
                <a:cs typeface="Calibri" pitchFamily="34" charset="-120"/>
              </a:rPr>
              <a:t>mensajes</a:t>
            </a:r>
            <a:r>
              <a:rPr lang="en-US" sz="1350" i="1" dirty="0">
                <a:solidFill>
                  <a:srgbClr val="C9D9E0"/>
                </a:solidFill>
                <a:latin typeface="Calibri" pitchFamily="34" charset="0"/>
                <a:ea typeface="Calibri" pitchFamily="34" charset="-122"/>
                <a:cs typeface="Calibri" pitchFamily="34" charset="-120"/>
              </a:rPr>
              <a:t> </a:t>
            </a:r>
            <a:r>
              <a:rPr lang="en-US" sz="1350" i="1" dirty="0" err="1">
                <a:solidFill>
                  <a:srgbClr val="C9D9E0"/>
                </a:solidFill>
                <a:latin typeface="Calibri" pitchFamily="34" charset="0"/>
                <a:ea typeface="Calibri" pitchFamily="34" charset="-122"/>
                <a:cs typeface="Calibri" pitchFamily="34" charset="-120"/>
              </a:rPr>
              <a:t>en</a:t>
            </a:r>
            <a:r>
              <a:rPr lang="en-US" sz="1350" i="1" dirty="0">
                <a:solidFill>
                  <a:srgbClr val="C9D9E0"/>
                </a:solidFill>
                <a:latin typeface="Calibri" pitchFamily="34" charset="0"/>
                <a:ea typeface="Calibri" pitchFamily="34" charset="-122"/>
                <a:cs typeface="Calibri" pitchFamily="34" charset="-120"/>
              </a:rPr>
              <a:t> </a:t>
            </a:r>
            <a:r>
              <a:rPr lang="en-US" sz="1350" i="1" dirty="0" err="1">
                <a:solidFill>
                  <a:srgbClr val="C9D9E0"/>
                </a:solidFill>
                <a:latin typeface="Calibri" pitchFamily="34" charset="0"/>
                <a:ea typeface="Calibri" pitchFamily="34" charset="-122"/>
                <a:cs typeface="Calibri" pitchFamily="34" charset="-120"/>
              </a:rPr>
              <a:t>bloques</a:t>
            </a:r>
            <a:r>
              <a:rPr lang="en-US" sz="1350" i="1" dirty="0">
                <a:solidFill>
                  <a:srgbClr val="C9D9E0"/>
                </a:solidFill>
                <a:latin typeface="Calibri" pitchFamily="34" charset="0"/>
                <a:ea typeface="Calibri" pitchFamily="34" charset="-122"/>
                <a:cs typeface="Calibri" pitchFamily="34" charset="-120"/>
              </a:rPr>
              <a:t> de 16 bytes y se procesa bloque por bloque.</a:t>
            </a:r>
            <a:endParaRPr lang="en-US" sz="1350" dirty="0"/>
          </a:p>
        </p:txBody>
      </p:sp>
      <p:sp>
        <p:nvSpPr>
          <p:cNvPr id="7" name="Text 5"/>
          <p:cNvSpPr/>
          <p:nvPr/>
        </p:nvSpPr>
        <p:spPr>
          <a:xfrm>
            <a:off x="5989320" y="1737360"/>
            <a:ext cx="5669280" cy="411480"/>
          </a:xfrm>
          <a:prstGeom prst="rect">
            <a:avLst/>
          </a:prstGeom>
          <a:noFill/>
          <a:ln/>
        </p:spPr>
        <p:txBody>
          <a:bodyPr wrap="square"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¿Dónde está AES </a:t>
            </a:r>
            <a:r>
              <a:rPr lang="en-US" sz="1600" b="1" dirty="0" err="1">
                <a:solidFill>
                  <a:srgbClr val="21295C"/>
                </a:solidFill>
                <a:latin typeface="Calibri" pitchFamily="34" charset="0"/>
                <a:ea typeface="Calibri" pitchFamily="34" charset="-122"/>
                <a:cs typeface="Calibri" pitchFamily="34" charset="-120"/>
              </a:rPr>
              <a:t>en</a:t>
            </a:r>
            <a:r>
              <a:rPr lang="en-US" sz="1600" b="1" dirty="0">
                <a:solidFill>
                  <a:srgbClr val="21295C"/>
                </a:solidFill>
                <a:latin typeface="Calibri" pitchFamily="34" charset="0"/>
                <a:ea typeface="Calibri" pitchFamily="34" charset="-122"/>
                <a:cs typeface="Calibri" pitchFamily="34" charset="-120"/>
              </a:rPr>
              <a:t> </a:t>
            </a:r>
            <a:r>
              <a:rPr lang="en-US" sz="1600" b="1" dirty="0" err="1">
                <a:solidFill>
                  <a:srgbClr val="21295C"/>
                </a:solidFill>
                <a:latin typeface="Calibri" pitchFamily="34" charset="0"/>
                <a:ea typeface="Calibri" pitchFamily="34" charset="-122"/>
                <a:cs typeface="Calibri" pitchFamily="34" charset="-120"/>
              </a:rPr>
              <a:t>el</a:t>
            </a:r>
            <a:r>
              <a:rPr lang="en-US" sz="1600" b="1" dirty="0">
                <a:solidFill>
                  <a:srgbClr val="21295C"/>
                </a:solidFill>
                <a:latin typeface="Calibri" pitchFamily="34" charset="0"/>
                <a:ea typeface="Calibri" pitchFamily="34" charset="-122"/>
                <a:cs typeface="Calibri" pitchFamily="34" charset="-120"/>
              </a:rPr>
              <a:t> día a día?</a:t>
            </a:r>
            <a:endParaRPr lang="en-US" sz="1600" dirty="0"/>
          </a:p>
        </p:txBody>
      </p:sp>
      <p:sp>
        <p:nvSpPr>
          <p:cNvPr id="8" name="Shape 6"/>
          <p:cNvSpPr/>
          <p:nvPr/>
        </p:nvSpPr>
        <p:spPr>
          <a:xfrm>
            <a:off x="5989320" y="2286000"/>
            <a:ext cx="530352" cy="530352"/>
          </a:xfrm>
          <a:prstGeom prst="ellipse">
            <a:avLst/>
          </a:prstGeom>
          <a:solidFill>
            <a:srgbClr val="EAF2F5"/>
          </a:solidFill>
          <a:ln/>
        </p:spPr>
      </p:sp>
      <p:pic>
        <p:nvPicPr>
          <p:cNvPr id="9" name="Image 0" descr="icons/wifi_blue.png"/>
          <p:cNvPicPr>
            <a:picLocks noChangeAspect="1"/>
          </p:cNvPicPr>
          <p:nvPr/>
        </p:nvPicPr>
        <p:blipFill>
          <a:blip r:embed="rId3"/>
          <a:stretch>
            <a:fillRect/>
          </a:stretch>
        </p:blipFill>
        <p:spPr>
          <a:xfrm>
            <a:off x="6117336" y="2414016"/>
            <a:ext cx="274320" cy="274320"/>
          </a:xfrm>
          <a:prstGeom prst="rect">
            <a:avLst/>
          </a:prstGeom>
        </p:spPr>
      </p:pic>
      <p:sp>
        <p:nvSpPr>
          <p:cNvPr id="10" name="Text 7"/>
          <p:cNvSpPr/>
          <p:nvPr/>
        </p:nvSpPr>
        <p:spPr>
          <a:xfrm>
            <a:off x="6720840" y="2240280"/>
            <a:ext cx="4846320" cy="320040"/>
          </a:xfrm>
          <a:prstGeom prst="rect">
            <a:avLst/>
          </a:prstGeom>
          <a:noFill/>
          <a:ln/>
        </p:spPr>
        <p:txBody>
          <a:bodyPr wrap="square" rtlCol="0" anchor="ctr"/>
          <a:lstStyle/>
          <a:p>
            <a:pPr marL="0" indent="0">
              <a:buNone/>
            </a:pPr>
            <a:r>
              <a:rPr lang="en-US" sz="1450" b="1" dirty="0">
                <a:solidFill>
                  <a:srgbClr val="1F2A33"/>
                </a:solidFill>
                <a:latin typeface="Calibri" pitchFamily="34" charset="0"/>
                <a:ea typeface="Calibri" pitchFamily="34" charset="-122"/>
                <a:cs typeface="Calibri" pitchFamily="34" charset="-120"/>
              </a:rPr>
              <a:t>Wi-Fi</a:t>
            </a:r>
            <a:endParaRPr lang="en-US" sz="1450" dirty="0"/>
          </a:p>
        </p:txBody>
      </p:sp>
      <p:sp>
        <p:nvSpPr>
          <p:cNvPr id="11" name="Text 8"/>
          <p:cNvSpPr/>
          <p:nvPr/>
        </p:nvSpPr>
        <p:spPr>
          <a:xfrm>
            <a:off x="6720840" y="2542032"/>
            <a:ext cx="4846320" cy="320040"/>
          </a:xfrm>
          <a:prstGeom prst="rect">
            <a:avLst/>
          </a:prstGeom>
          <a:noFill/>
          <a:ln/>
        </p:spPr>
        <p:txBody>
          <a:bodyPr wrap="square" rtlCol="0" anchor="ctr"/>
          <a:lstStyle/>
          <a:p>
            <a:pPr marL="0" indent="0">
              <a:buNone/>
            </a:pPr>
            <a:r>
              <a:rPr lang="en-US" sz="1250" dirty="0">
                <a:solidFill>
                  <a:srgbClr val="5B6B73"/>
                </a:solidFill>
                <a:latin typeface="Calibri" pitchFamily="34" charset="0"/>
                <a:ea typeface="Calibri" pitchFamily="34" charset="-122"/>
                <a:cs typeface="Calibri" pitchFamily="34" charset="-120"/>
              </a:rPr>
              <a:t>WPA2 / WPA3 </a:t>
            </a:r>
            <a:r>
              <a:rPr lang="en-US" sz="1250" dirty="0" err="1">
                <a:solidFill>
                  <a:srgbClr val="5B6B73"/>
                </a:solidFill>
                <a:latin typeface="Calibri" pitchFamily="34" charset="0"/>
                <a:ea typeface="Calibri" pitchFamily="34" charset="-122"/>
                <a:cs typeface="Calibri" pitchFamily="34" charset="-120"/>
              </a:rPr>
              <a:t>protegen</a:t>
            </a:r>
            <a:r>
              <a:rPr lang="en-US" sz="1250" dirty="0">
                <a:solidFill>
                  <a:srgbClr val="5B6B73"/>
                </a:solidFill>
                <a:latin typeface="Calibri" pitchFamily="34" charset="0"/>
                <a:ea typeface="Calibri" pitchFamily="34" charset="-122"/>
                <a:cs typeface="Calibri" pitchFamily="34" charset="-120"/>
              </a:rPr>
              <a:t> la red en casa</a:t>
            </a:r>
            <a:endParaRPr lang="en-US" sz="1250" dirty="0"/>
          </a:p>
        </p:txBody>
      </p:sp>
      <p:sp>
        <p:nvSpPr>
          <p:cNvPr id="12" name="Shape 9"/>
          <p:cNvSpPr/>
          <p:nvPr/>
        </p:nvSpPr>
        <p:spPr>
          <a:xfrm>
            <a:off x="5989320" y="2999232"/>
            <a:ext cx="530352" cy="530352"/>
          </a:xfrm>
          <a:prstGeom prst="ellipse">
            <a:avLst/>
          </a:prstGeom>
          <a:solidFill>
            <a:srgbClr val="EAF2F5"/>
          </a:solidFill>
          <a:ln/>
        </p:spPr>
      </p:sp>
      <p:pic>
        <p:nvPicPr>
          <p:cNvPr id="13" name="Image 1" descr="icons/server_blue.png"/>
          <p:cNvPicPr>
            <a:picLocks noChangeAspect="1"/>
          </p:cNvPicPr>
          <p:nvPr/>
        </p:nvPicPr>
        <p:blipFill>
          <a:blip r:embed="rId4"/>
          <a:stretch>
            <a:fillRect/>
          </a:stretch>
        </p:blipFill>
        <p:spPr>
          <a:xfrm>
            <a:off x="6117336" y="3127248"/>
            <a:ext cx="274320" cy="274320"/>
          </a:xfrm>
          <a:prstGeom prst="rect">
            <a:avLst/>
          </a:prstGeom>
        </p:spPr>
      </p:pic>
      <p:sp>
        <p:nvSpPr>
          <p:cNvPr id="14" name="Text 10"/>
          <p:cNvSpPr/>
          <p:nvPr/>
        </p:nvSpPr>
        <p:spPr>
          <a:xfrm>
            <a:off x="6720840" y="2953512"/>
            <a:ext cx="4846320" cy="320040"/>
          </a:xfrm>
          <a:prstGeom prst="rect">
            <a:avLst/>
          </a:prstGeom>
          <a:noFill/>
          <a:ln/>
        </p:spPr>
        <p:txBody>
          <a:bodyPr wrap="square" rtlCol="0" anchor="ctr"/>
          <a:lstStyle/>
          <a:p>
            <a:pPr marL="0" indent="0">
              <a:buNone/>
            </a:pPr>
            <a:r>
              <a:rPr lang="en-US" sz="1450" b="1" dirty="0">
                <a:solidFill>
                  <a:srgbClr val="1F2A33"/>
                </a:solidFill>
                <a:latin typeface="Calibri" pitchFamily="34" charset="0"/>
                <a:ea typeface="Calibri" pitchFamily="34" charset="-122"/>
                <a:cs typeface="Calibri" pitchFamily="34" charset="-120"/>
              </a:rPr>
              <a:t>Páginas web</a:t>
            </a:r>
            <a:endParaRPr lang="en-US" sz="1450" dirty="0"/>
          </a:p>
        </p:txBody>
      </p:sp>
      <p:sp>
        <p:nvSpPr>
          <p:cNvPr id="15" name="Text 11"/>
          <p:cNvSpPr/>
          <p:nvPr/>
        </p:nvSpPr>
        <p:spPr>
          <a:xfrm>
            <a:off x="6720840" y="3255264"/>
            <a:ext cx="4846320" cy="320040"/>
          </a:xfrm>
          <a:prstGeom prst="rect">
            <a:avLst/>
          </a:prstGeom>
          <a:noFill/>
          <a:ln/>
        </p:spPr>
        <p:txBody>
          <a:bodyPr wrap="square" rtlCol="0" anchor="ctr"/>
          <a:lstStyle/>
          <a:p>
            <a:pPr marL="0" indent="0">
              <a:buNone/>
            </a:pPr>
            <a:r>
              <a:rPr lang="en-US" sz="1250" dirty="0">
                <a:solidFill>
                  <a:srgbClr val="5B6B73"/>
                </a:solidFill>
                <a:latin typeface="Calibri" pitchFamily="34" charset="0"/>
                <a:ea typeface="Calibri" pitchFamily="34" charset="-122"/>
                <a:cs typeface="Calibri" pitchFamily="34" charset="-120"/>
              </a:rPr>
              <a:t>HTTPS lo usa para cifrar la conexión</a:t>
            </a:r>
            <a:endParaRPr lang="en-US" sz="1250" dirty="0"/>
          </a:p>
        </p:txBody>
      </p:sp>
      <p:sp>
        <p:nvSpPr>
          <p:cNvPr id="16" name="Shape 12"/>
          <p:cNvSpPr/>
          <p:nvPr/>
        </p:nvSpPr>
        <p:spPr>
          <a:xfrm>
            <a:off x="5989320" y="3712464"/>
            <a:ext cx="530352" cy="530352"/>
          </a:xfrm>
          <a:prstGeom prst="ellipse">
            <a:avLst/>
          </a:prstGeom>
          <a:solidFill>
            <a:srgbClr val="EAF2F5"/>
          </a:solidFill>
          <a:ln/>
        </p:spPr>
      </p:sp>
      <p:pic>
        <p:nvPicPr>
          <p:cNvPr id="17" name="Image 2" descr="icons/mobile_blue.png"/>
          <p:cNvPicPr>
            <a:picLocks noChangeAspect="1"/>
          </p:cNvPicPr>
          <p:nvPr/>
        </p:nvPicPr>
        <p:blipFill>
          <a:blip r:embed="rId5"/>
          <a:stretch>
            <a:fillRect/>
          </a:stretch>
        </p:blipFill>
        <p:spPr>
          <a:xfrm>
            <a:off x="6117336" y="3840480"/>
            <a:ext cx="274320" cy="274320"/>
          </a:xfrm>
          <a:prstGeom prst="rect">
            <a:avLst/>
          </a:prstGeom>
        </p:spPr>
      </p:pic>
      <p:sp>
        <p:nvSpPr>
          <p:cNvPr id="18" name="Text 13"/>
          <p:cNvSpPr/>
          <p:nvPr/>
        </p:nvSpPr>
        <p:spPr>
          <a:xfrm>
            <a:off x="6720840" y="3666744"/>
            <a:ext cx="4846320" cy="320040"/>
          </a:xfrm>
          <a:prstGeom prst="rect">
            <a:avLst/>
          </a:prstGeom>
          <a:noFill/>
          <a:ln/>
        </p:spPr>
        <p:txBody>
          <a:bodyPr wrap="square" rtlCol="0" anchor="ctr"/>
          <a:lstStyle/>
          <a:p>
            <a:pPr marL="0" indent="0">
              <a:buNone/>
            </a:pPr>
            <a:r>
              <a:rPr lang="en-US" sz="1450" b="1" dirty="0">
                <a:solidFill>
                  <a:srgbClr val="1F2A33"/>
                </a:solidFill>
                <a:latin typeface="Calibri" pitchFamily="34" charset="0"/>
                <a:ea typeface="Calibri" pitchFamily="34" charset="-122"/>
                <a:cs typeface="Calibri" pitchFamily="34" charset="-120"/>
              </a:rPr>
              <a:t>Tu celular y PC</a:t>
            </a:r>
            <a:endParaRPr lang="en-US" sz="1450" dirty="0"/>
          </a:p>
        </p:txBody>
      </p:sp>
      <p:sp>
        <p:nvSpPr>
          <p:cNvPr id="19" name="Text 14"/>
          <p:cNvSpPr/>
          <p:nvPr/>
        </p:nvSpPr>
        <p:spPr>
          <a:xfrm>
            <a:off x="6720840" y="3968496"/>
            <a:ext cx="4846320" cy="320040"/>
          </a:xfrm>
          <a:prstGeom prst="rect">
            <a:avLst/>
          </a:prstGeom>
          <a:noFill/>
          <a:ln/>
        </p:spPr>
        <p:txBody>
          <a:bodyPr wrap="square" rtlCol="0" anchor="ctr"/>
          <a:lstStyle/>
          <a:p>
            <a:pPr marL="0" indent="0">
              <a:buNone/>
            </a:pPr>
            <a:r>
              <a:rPr lang="en-US" sz="1250" dirty="0">
                <a:solidFill>
                  <a:srgbClr val="5B6B73"/>
                </a:solidFill>
                <a:latin typeface="Calibri" pitchFamily="34" charset="0"/>
                <a:ea typeface="Calibri" pitchFamily="34" charset="-122"/>
                <a:cs typeface="Calibri" pitchFamily="34" charset="-120"/>
              </a:rPr>
              <a:t>BitLocker, FileVault y apps de mensajería</a:t>
            </a:r>
            <a:endParaRPr lang="en-US" sz="1250" dirty="0"/>
          </a:p>
        </p:txBody>
      </p:sp>
      <p:sp>
        <p:nvSpPr>
          <p:cNvPr id="20" name="Text 15"/>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LAS DOS IDEAS QUE SOSTIENEN TODO</a:t>
            </a:r>
            <a:endParaRPr lang="en-US" sz="13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Confusión y difusión</a:t>
            </a:r>
            <a:endParaRPr lang="en-US" sz="3000" dirty="0"/>
          </a:p>
        </p:txBody>
      </p:sp>
      <p:sp>
        <p:nvSpPr>
          <p:cNvPr id="4" name="Text 2"/>
          <p:cNvSpPr/>
          <p:nvPr/>
        </p:nvSpPr>
        <p:spPr>
          <a:xfrm>
            <a:off x="548640" y="1783080"/>
            <a:ext cx="10789920" cy="457200"/>
          </a:xfrm>
          <a:prstGeom prst="rect">
            <a:avLst/>
          </a:prstGeom>
          <a:noFill/>
          <a:ln/>
        </p:spPr>
        <p:txBody>
          <a:bodyPr wrap="square" rtlCol="0" anchor="ctr"/>
          <a:lstStyle/>
          <a:p>
            <a:pPr marL="0" indent="0">
              <a:buNone/>
            </a:pPr>
            <a:r>
              <a:rPr lang="en-US" sz="1450" dirty="0">
                <a:solidFill>
                  <a:srgbClr val="5B6B73"/>
                </a:solidFill>
                <a:latin typeface="Calibri" pitchFamily="34" charset="0"/>
                <a:ea typeface="Calibri" pitchFamily="34" charset="-122"/>
                <a:cs typeface="Calibri" pitchFamily="34" charset="-120"/>
              </a:rPr>
              <a:t>En 1949, el matemático Claude Shannon propuso dos principios para que un cifrado sea </a:t>
            </a:r>
            <a:r>
              <a:rPr lang="en-US" sz="1450" dirty="0" err="1">
                <a:solidFill>
                  <a:srgbClr val="5B6B73"/>
                </a:solidFill>
                <a:latin typeface="Calibri" pitchFamily="34" charset="0"/>
                <a:ea typeface="Calibri" pitchFamily="34" charset="-122"/>
                <a:cs typeface="Calibri" pitchFamily="34" charset="-120"/>
              </a:rPr>
              <a:t>seguro</a:t>
            </a:r>
            <a:r>
              <a:rPr lang="en-US" sz="1450" dirty="0">
                <a:solidFill>
                  <a:srgbClr val="5B6B73"/>
                </a:solidFill>
                <a:latin typeface="Calibri" pitchFamily="34" charset="0"/>
                <a:ea typeface="Calibri" pitchFamily="34" charset="-122"/>
                <a:cs typeface="Calibri" pitchFamily="34" charset="-120"/>
              </a:rPr>
              <a:t>.</a:t>
            </a:r>
            <a:endParaRPr lang="en-US" sz="1450" dirty="0"/>
          </a:p>
        </p:txBody>
      </p:sp>
      <p:sp>
        <p:nvSpPr>
          <p:cNvPr id="5" name="Shape 3"/>
          <p:cNvSpPr/>
          <p:nvPr/>
        </p:nvSpPr>
        <p:spPr>
          <a:xfrm>
            <a:off x="548640" y="2423160"/>
            <a:ext cx="5120640" cy="3611880"/>
          </a:xfrm>
          <a:prstGeom prst="roundRect">
            <a:avLst>
              <a:gd name="adj" fmla="val 2532"/>
            </a:avLst>
          </a:prstGeom>
          <a:solidFill>
            <a:srgbClr val="EAF2F5"/>
          </a:solidFill>
          <a:ln/>
          <a:effectLst>
            <a:outerShdw blurRad="101600" dist="38100" dir="5400000" algn="bl" rotWithShape="0">
              <a:srgbClr val="000000">
                <a:alpha val="10000"/>
              </a:srgbClr>
            </a:outerShdw>
          </a:effectLst>
        </p:spPr>
      </p:sp>
      <p:sp>
        <p:nvSpPr>
          <p:cNvPr id="6" name="Shape 4"/>
          <p:cNvSpPr/>
          <p:nvPr/>
        </p:nvSpPr>
        <p:spPr>
          <a:xfrm>
            <a:off x="822960" y="2697480"/>
            <a:ext cx="640080" cy="640080"/>
          </a:xfrm>
          <a:prstGeom prst="ellipse">
            <a:avLst/>
          </a:prstGeom>
          <a:solidFill>
            <a:srgbClr val="FFFFFF"/>
          </a:solidFill>
          <a:ln/>
        </p:spPr>
      </p:sp>
      <p:pic>
        <p:nvPicPr>
          <p:cNvPr id="7" name="Image 0" descr="icons/puzzle_teal.png"/>
          <p:cNvPicPr>
            <a:picLocks noChangeAspect="1"/>
          </p:cNvPicPr>
          <p:nvPr/>
        </p:nvPicPr>
        <p:blipFill>
          <a:blip r:embed="rId3"/>
          <a:stretch>
            <a:fillRect/>
          </a:stretch>
        </p:blipFill>
        <p:spPr>
          <a:xfrm>
            <a:off x="969264" y="2843784"/>
            <a:ext cx="347472" cy="347472"/>
          </a:xfrm>
          <a:prstGeom prst="rect">
            <a:avLst/>
          </a:prstGeom>
        </p:spPr>
      </p:pic>
      <p:sp>
        <p:nvSpPr>
          <p:cNvPr id="8" name="Text 5"/>
          <p:cNvSpPr/>
          <p:nvPr/>
        </p:nvSpPr>
        <p:spPr>
          <a:xfrm>
            <a:off x="1645920" y="2743200"/>
            <a:ext cx="3840480" cy="502920"/>
          </a:xfrm>
          <a:prstGeom prst="rect">
            <a:avLst/>
          </a:prstGeom>
          <a:noFill/>
          <a:ln/>
        </p:spPr>
        <p:txBody>
          <a:bodyPr wrap="square" rtlCol="0" anchor="ctr"/>
          <a:lstStyle/>
          <a:p>
            <a:pPr marL="0" indent="0">
              <a:buNone/>
            </a:pPr>
            <a:r>
              <a:rPr lang="en-US" sz="2100" b="1" dirty="0">
                <a:solidFill>
                  <a:srgbClr val="21295C"/>
                </a:solidFill>
                <a:latin typeface="Cambria" pitchFamily="34" charset="0"/>
                <a:ea typeface="Cambria" pitchFamily="34" charset="-122"/>
                <a:cs typeface="Cambria" pitchFamily="34" charset="-120"/>
              </a:rPr>
              <a:t>Confusión</a:t>
            </a:r>
            <a:endParaRPr lang="en-US" sz="2100" dirty="0"/>
          </a:p>
        </p:txBody>
      </p:sp>
      <p:sp>
        <p:nvSpPr>
          <p:cNvPr id="9" name="Text 6"/>
          <p:cNvSpPr/>
          <p:nvPr/>
        </p:nvSpPr>
        <p:spPr>
          <a:xfrm>
            <a:off x="822960" y="3520440"/>
            <a:ext cx="4572000" cy="1188720"/>
          </a:xfrm>
          <a:prstGeom prst="rect">
            <a:avLst/>
          </a:prstGeom>
          <a:noFill/>
          <a:ln/>
        </p:spPr>
        <p:txBody>
          <a:bodyPr wrap="square" rtlCol="0" anchor="ctr"/>
          <a:lstStyle/>
          <a:p>
            <a:pPr marL="0" indent="0">
              <a:lnSpc>
                <a:spcPts val="1900"/>
              </a:lnSpc>
              <a:buNone/>
            </a:pPr>
            <a:r>
              <a:rPr lang="en-US" sz="1400" dirty="0">
                <a:solidFill>
                  <a:srgbClr val="1F2A33"/>
                </a:solidFill>
                <a:latin typeface="Calibri" pitchFamily="34" charset="0"/>
                <a:ea typeface="Calibri" pitchFamily="34" charset="-122"/>
                <a:cs typeface="Calibri" pitchFamily="34" charset="-120"/>
              </a:rPr>
              <a:t>Cada byte de salida depende de la clave de una forma tan revuelta que es imposible adivinar la relación entre clave y resultado.</a:t>
            </a:r>
            <a:endParaRPr lang="en-US" sz="1400" dirty="0"/>
          </a:p>
        </p:txBody>
      </p:sp>
      <p:sp>
        <p:nvSpPr>
          <p:cNvPr id="10" name="Text 7"/>
          <p:cNvSpPr/>
          <p:nvPr/>
        </p:nvSpPr>
        <p:spPr>
          <a:xfrm>
            <a:off x="822960" y="4754880"/>
            <a:ext cx="4572000" cy="1143000"/>
          </a:xfrm>
          <a:prstGeom prst="rect">
            <a:avLst/>
          </a:prstGeom>
          <a:noFill/>
          <a:ln/>
        </p:spPr>
        <p:txBody>
          <a:bodyPr wrap="square" rtlCol="0" anchor="ctr"/>
          <a:lstStyle/>
          <a:p>
            <a:pPr marL="0" indent="0">
              <a:lnSpc>
                <a:spcPts val="1800"/>
              </a:lnSpc>
              <a:buNone/>
            </a:pPr>
            <a:r>
              <a:rPr lang="en-US" sz="1300" i="1" dirty="0">
                <a:solidFill>
                  <a:srgbClr val="1C7293"/>
                </a:solidFill>
                <a:latin typeface="Calibri" pitchFamily="34" charset="0"/>
                <a:ea typeface="Calibri" pitchFamily="34" charset="-122"/>
                <a:cs typeface="Calibri" pitchFamily="34" charset="-120"/>
              </a:rPr>
              <a:t>Como una receta secreta: ves el plato final, pero no podés deducir los ingredientes exactos.</a:t>
            </a:r>
            <a:endParaRPr lang="en-US" sz="1300" dirty="0"/>
          </a:p>
        </p:txBody>
      </p:sp>
      <p:sp>
        <p:nvSpPr>
          <p:cNvPr id="11" name="Shape 8"/>
          <p:cNvSpPr/>
          <p:nvPr/>
        </p:nvSpPr>
        <p:spPr>
          <a:xfrm>
            <a:off x="6217920" y="2423160"/>
            <a:ext cx="5120640" cy="3611880"/>
          </a:xfrm>
          <a:prstGeom prst="roundRect">
            <a:avLst>
              <a:gd name="adj" fmla="val 2532"/>
            </a:avLst>
          </a:prstGeom>
          <a:solidFill>
            <a:srgbClr val="EAF2F5"/>
          </a:solidFill>
          <a:ln/>
          <a:effectLst>
            <a:outerShdw blurRad="101600" dist="38100" dir="5400000" algn="bl" rotWithShape="0">
              <a:srgbClr val="000000">
                <a:alpha val="10000"/>
              </a:srgbClr>
            </a:outerShdw>
          </a:effectLst>
        </p:spPr>
      </p:sp>
      <p:sp>
        <p:nvSpPr>
          <p:cNvPr id="12" name="Shape 9"/>
          <p:cNvSpPr/>
          <p:nvPr/>
        </p:nvSpPr>
        <p:spPr>
          <a:xfrm>
            <a:off x="6492240" y="2697480"/>
            <a:ext cx="640080" cy="640080"/>
          </a:xfrm>
          <a:prstGeom prst="ellipse">
            <a:avLst/>
          </a:prstGeom>
          <a:solidFill>
            <a:srgbClr val="FFFFFF"/>
          </a:solidFill>
          <a:ln/>
        </p:spPr>
      </p:sp>
      <p:pic>
        <p:nvPicPr>
          <p:cNvPr id="13" name="Image 1" descr="icons/random_teal.png"/>
          <p:cNvPicPr>
            <a:picLocks noChangeAspect="1"/>
          </p:cNvPicPr>
          <p:nvPr/>
        </p:nvPicPr>
        <p:blipFill>
          <a:blip r:embed="rId4"/>
          <a:stretch>
            <a:fillRect/>
          </a:stretch>
        </p:blipFill>
        <p:spPr>
          <a:xfrm>
            <a:off x="6638544" y="2843784"/>
            <a:ext cx="347472" cy="347472"/>
          </a:xfrm>
          <a:prstGeom prst="rect">
            <a:avLst/>
          </a:prstGeom>
        </p:spPr>
      </p:pic>
      <p:sp>
        <p:nvSpPr>
          <p:cNvPr id="14" name="Text 10"/>
          <p:cNvSpPr/>
          <p:nvPr/>
        </p:nvSpPr>
        <p:spPr>
          <a:xfrm>
            <a:off x="7315200" y="2743200"/>
            <a:ext cx="3840480" cy="502920"/>
          </a:xfrm>
          <a:prstGeom prst="rect">
            <a:avLst/>
          </a:prstGeom>
          <a:noFill/>
          <a:ln/>
        </p:spPr>
        <p:txBody>
          <a:bodyPr wrap="square" rtlCol="0" anchor="ctr"/>
          <a:lstStyle/>
          <a:p>
            <a:pPr marL="0" indent="0">
              <a:buNone/>
            </a:pPr>
            <a:r>
              <a:rPr lang="en-US" sz="2100" b="1" dirty="0">
                <a:solidFill>
                  <a:srgbClr val="21295C"/>
                </a:solidFill>
                <a:latin typeface="Cambria" pitchFamily="34" charset="0"/>
                <a:ea typeface="Cambria" pitchFamily="34" charset="-122"/>
                <a:cs typeface="Cambria" pitchFamily="34" charset="-120"/>
              </a:rPr>
              <a:t>Difusión</a:t>
            </a:r>
            <a:endParaRPr lang="en-US" sz="2100" dirty="0"/>
          </a:p>
        </p:txBody>
      </p:sp>
      <p:sp>
        <p:nvSpPr>
          <p:cNvPr id="15" name="Text 11"/>
          <p:cNvSpPr/>
          <p:nvPr/>
        </p:nvSpPr>
        <p:spPr>
          <a:xfrm>
            <a:off x="6492240" y="3520440"/>
            <a:ext cx="4572000" cy="1188720"/>
          </a:xfrm>
          <a:prstGeom prst="rect">
            <a:avLst/>
          </a:prstGeom>
          <a:noFill/>
          <a:ln/>
        </p:spPr>
        <p:txBody>
          <a:bodyPr wrap="square" rtlCol="0" anchor="ctr"/>
          <a:lstStyle/>
          <a:p>
            <a:pPr marL="0" indent="0">
              <a:lnSpc>
                <a:spcPts val="1900"/>
              </a:lnSpc>
              <a:buNone/>
            </a:pPr>
            <a:r>
              <a:rPr lang="en-US" sz="1400" dirty="0">
                <a:solidFill>
                  <a:srgbClr val="1F2A33"/>
                </a:solidFill>
                <a:latin typeface="Calibri" pitchFamily="34" charset="0"/>
                <a:ea typeface="Calibri" pitchFamily="34" charset="-122"/>
                <a:cs typeface="Calibri" pitchFamily="34" charset="-120"/>
              </a:rPr>
              <a:t>Un solo cambio en la entrada (aunque sea un bit) termina afectando a todo el bloque de salida.</a:t>
            </a:r>
            <a:endParaRPr lang="en-US" sz="1400" dirty="0"/>
          </a:p>
        </p:txBody>
      </p:sp>
      <p:sp>
        <p:nvSpPr>
          <p:cNvPr id="16" name="Text 12"/>
          <p:cNvSpPr/>
          <p:nvPr/>
        </p:nvSpPr>
        <p:spPr>
          <a:xfrm>
            <a:off x="6492240" y="4754880"/>
            <a:ext cx="4572000" cy="1143000"/>
          </a:xfrm>
          <a:prstGeom prst="rect">
            <a:avLst/>
          </a:prstGeom>
          <a:noFill/>
          <a:ln/>
        </p:spPr>
        <p:txBody>
          <a:bodyPr wrap="square" rtlCol="0" anchor="ctr"/>
          <a:lstStyle/>
          <a:p>
            <a:pPr marL="0" indent="0">
              <a:lnSpc>
                <a:spcPts val="1800"/>
              </a:lnSpc>
              <a:buNone/>
            </a:pPr>
            <a:r>
              <a:rPr lang="en-US" sz="1300" i="1" dirty="0">
                <a:solidFill>
                  <a:srgbClr val="1C7293"/>
                </a:solidFill>
                <a:latin typeface="Calibri" pitchFamily="34" charset="0"/>
                <a:ea typeface="Calibri" pitchFamily="34" charset="-122"/>
                <a:cs typeface="Calibri" pitchFamily="34" charset="-120"/>
              </a:rPr>
              <a:t>Como una gota de tinta en un vaso de agua que revolvés: se reparte por todos lados, no queda en un punto.</a:t>
            </a:r>
            <a:endParaRPr lang="en-US" sz="1300" dirty="0"/>
          </a:p>
        </p:txBody>
      </p:sp>
      <p:sp>
        <p:nvSpPr>
          <p:cNvPr id="17" name="Text 13"/>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POR DENTRO DEL ALGORITMO</a:t>
            </a:r>
            <a:endParaRPr lang="en-US" sz="13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Cuatro pasos que se repiten varias veces</a:t>
            </a:r>
            <a:endParaRPr lang="en-US" sz="3000" dirty="0"/>
          </a:p>
        </p:txBody>
      </p:sp>
      <p:sp>
        <p:nvSpPr>
          <p:cNvPr id="4" name="Text 2"/>
          <p:cNvSpPr/>
          <p:nvPr/>
        </p:nvSpPr>
        <p:spPr>
          <a:xfrm>
            <a:off x="548640" y="1737360"/>
            <a:ext cx="10789920" cy="457200"/>
          </a:xfrm>
          <a:prstGeom prst="rect">
            <a:avLst/>
          </a:prstGeom>
          <a:noFill/>
          <a:ln/>
        </p:spPr>
        <p:txBody>
          <a:bodyPr wrap="square" rtlCol="0" anchor="ctr"/>
          <a:lstStyle/>
          <a:p>
            <a:pPr marL="0" indent="0">
              <a:buNone/>
            </a:pPr>
            <a:r>
              <a:rPr lang="en-US" sz="1450" dirty="0">
                <a:solidFill>
                  <a:srgbClr val="5B6B73"/>
                </a:solidFill>
                <a:latin typeface="Calibri" pitchFamily="34" charset="0"/>
                <a:ea typeface="Calibri" pitchFamily="34" charset="-122"/>
                <a:cs typeface="Calibri" pitchFamily="34" charset="-120"/>
              </a:rPr>
              <a:t>AES no cifra todo de una vez: aplica 4 pasos, </a:t>
            </a:r>
            <a:r>
              <a:rPr lang="en-US" sz="1450" dirty="0" err="1">
                <a:solidFill>
                  <a:srgbClr val="5B6B73"/>
                </a:solidFill>
                <a:latin typeface="Calibri" pitchFamily="34" charset="0"/>
                <a:ea typeface="Calibri" pitchFamily="34" charset="-122"/>
                <a:cs typeface="Calibri" pitchFamily="34" charset="-120"/>
              </a:rPr>
              <a:t>una</a:t>
            </a:r>
            <a:r>
              <a:rPr lang="en-US" sz="1450" dirty="0">
                <a:solidFill>
                  <a:srgbClr val="5B6B73"/>
                </a:solidFill>
                <a:latin typeface="Calibri" pitchFamily="34" charset="0"/>
                <a:ea typeface="Calibri" pitchFamily="34" charset="-122"/>
                <a:cs typeface="Calibri" pitchFamily="34" charset="-120"/>
              </a:rPr>
              <a:t> y otra vez (10 veces para una clave de 128 bits), sobre una grilla de 16 bytes.</a:t>
            </a:r>
            <a:endParaRPr lang="en-US" sz="1450" dirty="0"/>
          </a:p>
        </p:txBody>
      </p:sp>
      <p:sp>
        <p:nvSpPr>
          <p:cNvPr id="5" name="Shape 3"/>
          <p:cNvSpPr/>
          <p:nvPr/>
        </p:nvSpPr>
        <p:spPr>
          <a:xfrm>
            <a:off x="548640" y="2377440"/>
            <a:ext cx="2542032" cy="3108960"/>
          </a:xfrm>
          <a:prstGeom prst="roundRect">
            <a:avLst>
              <a:gd name="adj" fmla="val 3597"/>
            </a:avLst>
          </a:prstGeom>
          <a:solidFill>
            <a:srgbClr val="065A82"/>
          </a:solidFill>
          <a:ln/>
          <a:effectLst>
            <a:outerShdw blurRad="76200" dist="25400" dir="5400000" algn="bl" rotWithShape="0">
              <a:srgbClr val="000000">
                <a:alpha val="10000"/>
              </a:srgbClr>
            </a:outerShdw>
          </a:effectLst>
        </p:spPr>
      </p:sp>
      <p:sp>
        <p:nvSpPr>
          <p:cNvPr id="6" name="Text 4"/>
          <p:cNvSpPr/>
          <p:nvPr/>
        </p:nvSpPr>
        <p:spPr>
          <a:xfrm>
            <a:off x="731520" y="2542032"/>
            <a:ext cx="548640" cy="457200"/>
          </a:xfrm>
          <a:prstGeom prst="rect">
            <a:avLst/>
          </a:prstGeom>
          <a:noFill/>
          <a:ln/>
        </p:spPr>
        <p:txBody>
          <a:bodyPr wrap="square" rtlCol="0" anchor="ctr"/>
          <a:lstStyle/>
          <a:p>
            <a:pPr marL="0" indent="0">
              <a:buNone/>
            </a:pPr>
            <a:r>
              <a:rPr lang="en-US" sz="2200" b="1" dirty="0">
                <a:solidFill>
                  <a:srgbClr val="C9D9E0"/>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731520" y="2971800"/>
            <a:ext cx="2176272" cy="457200"/>
          </a:xfrm>
          <a:prstGeom prst="rect">
            <a:avLst/>
          </a:prstGeom>
          <a:noFill/>
          <a:ln/>
        </p:spPr>
        <p:txBody>
          <a:bodyPr wrap="square" rtlCol="0" anchor="ctr"/>
          <a:lstStyle/>
          <a:p>
            <a:pPr marL="0" indent="0">
              <a:buNone/>
            </a:pPr>
            <a:r>
              <a:rPr lang="en-US" sz="1650" b="1" dirty="0">
                <a:solidFill>
                  <a:srgbClr val="FFFFFF"/>
                </a:solidFill>
                <a:latin typeface="Calibri" pitchFamily="34" charset="0"/>
                <a:ea typeface="Calibri" pitchFamily="34" charset="-122"/>
                <a:cs typeface="Calibri" pitchFamily="34" charset="-120"/>
              </a:rPr>
              <a:t>SubBytes</a:t>
            </a:r>
            <a:endParaRPr lang="en-US" sz="1650" dirty="0"/>
          </a:p>
        </p:txBody>
      </p:sp>
      <p:sp>
        <p:nvSpPr>
          <p:cNvPr id="8" name="Text 6"/>
          <p:cNvSpPr/>
          <p:nvPr/>
        </p:nvSpPr>
        <p:spPr>
          <a:xfrm>
            <a:off x="731520" y="3474720"/>
            <a:ext cx="2176272" cy="1234440"/>
          </a:xfrm>
          <a:prstGeom prst="rect">
            <a:avLst/>
          </a:prstGeom>
          <a:noFill/>
          <a:ln/>
        </p:spPr>
        <p:txBody>
          <a:bodyPr wrap="square" rtlCol="0" anchor="ctr"/>
          <a:lstStyle/>
          <a:p>
            <a:pPr marL="0" indent="0">
              <a:lnSpc>
                <a:spcPts val="1700"/>
              </a:lnSpc>
              <a:buNone/>
            </a:pPr>
            <a:r>
              <a:rPr lang="en-US" sz="1250" dirty="0">
                <a:solidFill>
                  <a:srgbClr val="EAF2F5"/>
                </a:solidFill>
                <a:latin typeface="Calibri" pitchFamily="34" charset="0"/>
                <a:ea typeface="Calibri" pitchFamily="34" charset="-122"/>
                <a:cs typeface="Calibri" pitchFamily="34" charset="-120"/>
              </a:rPr>
              <a:t>Cambia cada byte por otro, según una tabla fija.</a:t>
            </a:r>
            <a:endParaRPr lang="en-US" sz="1250" dirty="0"/>
          </a:p>
        </p:txBody>
      </p:sp>
      <p:sp>
        <p:nvSpPr>
          <p:cNvPr id="9" name="Shape 7"/>
          <p:cNvSpPr/>
          <p:nvPr/>
        </p:nvSpPr>
        <p:spPr>
          <a:xfrm>
            <a:off x="731520" y="4800600"/>
            <a:ext cx="2176272" cy="9144"/>
          </a:xfrm>
          <a:prstGeom prst="rect">
            <a:avLst/>
          </a:prstGeom>
          <a:noFill/>
          <a:ln w="12700">
            <a:solidFill>
              <a:srgbClr val="4F7FA0"/>
            </a:solidFill>
            <a:prstDash val="solid"/>
          </a:ln>
        </p:spPr>
      </p:sp>
      <p:sp>
        <p:nvSpPr>
          <p:cNvPr id="10" name="Text 8"/>
          <p:cNvSpPr/>
          <p:nvPr/>
        </p:nvSpPr>
        <p:spPr>
          <a:xfrm>
            <a:off x="731520" y="4919472"/>
            <a:ext cx="2176272" cy="457200"/>
          </a:xfrm>
          <a:prstGeom prst="rect">
            <a:avLst/>
          </a:prstGeom>
          <a:noFill/>
          <a:ln/>
        </p:spPr>
        <p:txBody>
          <a:bodyPr wrap="square" rtlCol="0" anchor="ctr"/>
          <a:lstStyle/>
          <a:p>
            <a:pPr marL="0" indent="0">
              <a:buNone/>
            </a:pPr>
            <a:r>
              <a:rPr lang="en-US" sz="1150" i="1" dirty="0">
                <a:solidFill>
                  <a:srgbClr val="C9D9E0"/>
                </a:solidFill>
                <a:latin typeface="Calibri" pitchFamily="34" charset="0"/>
                <a:ea typeface="Calibri" pitchFamily="34" charset="-122"/>
                <a:cs typeface="Calibri" pitchFamily="34" charset="-120"/>
              </a:rPr>
              <a:t>Aporta confusión</a:t>
            </a:r>
            <a:endParaRPr lang="en-US" sz="1150" dirty="0"/>
          </a:p>
        </p:txBody>
      </p:sp>
      <p:sp>
        <p:nvSpPr>
          <p:cNvPr id="11" name="Shape 9"/>
          <p:cNvSpPr/>
          <p:nvPr/>
        </p:nvSpPr>
        <p:spPr>
          <a:xfrm>
            <a:off x="3099816" y="3794760"/>
            <a:ext cx="201168" cy="274320"/>
          </a:xfrm>
          <a:prstGeom prst="rightArrow">
            <a:avLst/>
          </a:prstGeom>
          <a:solidFill>
            <a:srgbClr val="5B6B73"/>
          </a:solidFill>
          <a:ln/>
        </p:spPr>
      </p:sp>
      <p:sp>
        <p:nvSpPr>
          <p:cNvPr id="12" name="Shape 10"/>
          <p:cNvSpPr/>
          <p:nvPr/>
        </p:nvSpPr>
        <p:spPr>
          <a:xfrm>
            <a:off x="3319272" y="2377440"/>
            <a:ext cx="2542032" cy="3108960"/>
          </a:xfrm>
          <a:prstGeom prst="roundRect">
            <a:avLst>
              <a:gd name="adj" fmla="val 3597"/>
            </a:avLst>
          </a:prstGeom>
          <a:solidFill>
            <a:srgbClr val="1C7293"/>
          </a:solidFill>
          <a:ln/>
          <a:effectLst>
            <a:outerShdw blurRad="76200" dist="25400" dir="5400000" algn="bl" rotWithShape="0">
              <a:srgbClr val="000000">
                <a:alpha val="10000"/>
              </a:srgbClr>
            </a:outerShdw>
          </a:effectLst>
        </p:spPr>
      </p:sp>
      <p:sp>
        <p:nvSpPr>
          <p:cNvPr id="13" name="Text 11"/>
          <p:cNvSpPr/>
          <p:nvPr/>
        </p:nvSpPr>
        <p:spPr>
          <a:xfrm>
            <a:off x="3502152" y="2542032"/>
            <a:ext cx="548640" cy="457200"/>
          </a:xfrm>
          <a:prstGeom prst="rect">
            <a:avLst/>
          </a:prstGeom>
          <a:noFill/>
          <a:ln/>
        </p:spPr>
        <p:txBody>
          <a:bodyPr wrap="square" rtlCol="0" anchor="ctr"/>
          <a:lstStyle/>
          <a:p>
            <a:pPr marL="0" indent="0">
              <a:buNone/>
            </a:pPr>
            <a:r>
              <a:rPr lang="en-US" sz="2200" b="1" dirty="0">
                <a:solidFill>
                  <a:srgbClr val="C9D9E0"/>
                </a:solidFill>
                <a:latin typeface="Cambria" pitchFamily="34" charset="0"/>
                <a:ea typeface="Cambria" pitchFamily="34" charset="-122"/>
                <a:cs typeface="Cambria" pitchFamily="34" charset="-120"/>
              </a:rPr>
              <a:t>2</a:t>
            </a:r>
            <a:endParaRPr lang="en-US" sz="2200" dirty="0"/>
          </a:p>
        </p:txBody>
      </p:sp>
      <p:sp>
        <p:nvSpPr>
          <p:cNvPr id="14" name="Text 12"/>
          <p:cNvSpPr/>
          <p:nvPr/>
        </p:nvSpPr>
        <p:spPr>
          <a:xfrm>
            <a:off x="3502152" y="2971800"/>
            <a:ext cx="2176272" cy="457200"/>
          </a:xfrm>
          <a:prstGeom prst="rect">
            <a:avLst/>
          </a:prstGeom>
          <a:noFill/>
          <a:ln/>
        </p:spPr>
        <p:txBody>
          <a:bodyPr wrap="square" rtlCol="0" anchor="ctr"/>
          <a:lstStyle/>
          <a:p>
            <a:pPr marL="0" indent="0">
              <a:buNone/>
            </a:pPr>
            <a:r>
              <a:rPr lang="en-US" sz="1650" b="1" dirty="0">
                <a:solidFill>
                  <a:srgbClr val="FFFFFF"/>
                </a:solidFill>
                <a:latin typeface="Calibri" pitchFamily="34" charset="0"/>
                <a:ea typeface="Calibri" pitchFamily="34" charset="-122"/>
                <a:cs typeface="Calibri" pitchFamily="34" charset="-120"/>
              </a:rPr>
              <a:t>ShiftRows</a:t>
            </a:r>
            <a:endParaRPr lang="en-US" sz="1650" dirty="0"/>
          </a:p>
        </p:txBody>
      </p:sp>
      <p:sp>
        <p:nvSpPr>
          <p:cNvPr id="15" name="Text 13"/>
          <p:cNvSpPr/>
          <p:nvPr/>
        </p:nvSpPr>
        <p:spPr>
          <a:xfrm>
            <a:off x="3502152" y="3474720"/>
            <a:ext cx="2176272" cy="1234440"/>
          </a:xfrm>
          <a:prstGeom prst="rect">
            <a:avLst/>
          </a:prstGeom>
          <a:noFill/>
          <a:ln/>
        </p:spPr>
        <p:txBody>
          <a:bodyPr wrap="square" rtlCol="0" anchor="ctr"/>
          <a:lstStyle/>
          <a:p>
            <a:pPr marL="0" indent="0">
              <a:lnSpc>
                <a:spcPts val="1700"/>
              </a:lnSpc>
              <a:buNone/>
            </a:pPr>
            <a:r>
              <a:rPr lang="en-US" sz="1250" dirty="0">
                <a:solidFill>
                  <a:srgbClr val="EAF2F5"/>
                </a:solidFill>
                <a:latin typeface="Calibri" pitchFamily="34" charset="0"/>
                <a:ea typeface="Calibri" pitchFamily="34" charset="-122"/>
                <a:cs typeface="Calibri" pitchFamily="34" charset="-120"/>
              </a:rPr>
              <a:t>Corre las filas de la grilla hacia un lado.</a:t>
            </a:r>
            <a:endParaRPr lang="en-US" sz="1250" dirty="0"/>
          </a:p>
        </p:txBody>
      </p:sp>
      <p:sp>
        <p:nvSpPr>
          <p:cNvPr id="16" name="Shape 14"/>
          <p:cNvSpPr/>
          <p:nvPr/>
        </p:nvSpPr>
        <p:spPr>
          <a:xfrm>
            <a:off x="3502152" y="4800600"/>
            <a:ext cx="2176272" cy="9144"/>
          </a:xfrm>
          <a:prstGeom prst="rect">
            <a:avLst/>
          </a:prstGeom>
          <a:noFill/>
          <a:ln w="12700">
            <a:solidFill>
              <a:srgbClr val="4F7FA0"/>
            </a:solidFill>
            <a:prstDash val="solid"/>
          </a:ln>
        </p:spPr>
      </p:sp>
      <p:sp>
        <p:nvSpPr>
          <p:cNvPr id="17" name="Text 15"/>
          <p:cNvSpPr/>
          <p:nvPr/>
        </p:nvSpPr>
        <p:spPr>
          <a:xfrm>
            <a:off x="3502152" y="4919472"/>
            <a:ext cx="2176272" cy="457200"/>
          </a:xfrm>
          <a:prstGeom prst="rect">
            <a:avLst/>
          </a:prstGeom>
          <a:noFill/>
          <a:ln/>
        </p:spPr>
        <p:txBody>
          <a:bodyPr wrap="square" rtlCol="0" anchor="ctr"/>
          <a:lstStyle/>
          <a:p>
            <a:pPr marL="0" indent="0">
              <a:buNone/>
            </a:pPr>
            <a:r>
              <a:rPr lang="en-US" sz="1150" i="1" dirty="0">
                <a:solidFill>
                  <a:srgbClr val="C9D9E0"/>
                </a:solidFill>
                <a:latin typeface="Calibri" pitchFamily="34" charset="0"/>
                <a:ea typeface="Calibri" pitchFamily="34" charset="-122"/>
                <a:cs typeface="Calibri" pitchFamily="34" charset="-120"/>
              </a:rPr>
              <a:t>Aporta difusión</a:t>
            </a:r>
            <a:endParaRPr lang="en-US" sz="1150" dirty="0"/>
          </a:p>
        </p:txBody>
      </p:sp>
      <p:sp>
        <p:nvSpPr>
          <p:cNvPr id="18" name="Shape 16"/>
          <p:cNvSpPr/>
          <p:nvPr/>
        </p:nvSpPr>
        <p:spPr>
          <a:xfrm>
            <a:off x="5870448" y="3794760"/>
            <a:ext cx="201168" cy="274320"/>
          </a:xfrm>
          <a:prstGeom prst="rightArrow">
            <a:avLst/>
          </a:prstGeom>
          <a:solidFill>
            <a:srgbClr val="5B6B73"/>
          </a:solidFill>
          <a:ln/>
        </p:spPr>
      </p:sp>
      <p:sp>
        <p:nvSpPr>
          <p:cNvPr id="19" name="Shape 17"/>
          <p:cNvSpPr/>
          <p:nvPr/>
        </p:nvSpPr>
        <p:spPr>
          <a:xfrm>
            <a:off x="6089904" y="2377440"/>
            <a:ext cx="2542032" cy="3108960"/>
          </a:xfrm>
          <a:prstGeom prst="roundRect">
            <a:avLst>
              <a:gd name="adj" fmla="val 3597"/>
            </a:avLst>
          </a:prstGeom>
          <a:solidFill>
            <a:srgbClr val="065A82"/>
          </a:solidFill>
          <a:ln/>
          <a:effectLst>
            <a:outerShdw blurRad="76200" dist="25400" dir="5400000" algn="bl" rotWithShape="0">
              <a:srgbClr val="000000">
                <a:alpha val="10000"/>
              </a:srgbClr>
            </a:outerShdw>
          </a:effectLst>
        </p:spPr>
      </p:sp>
      <p:sp>
        <p:nvSpPr>
          <p:cNvPr id="20" name="Text 18"/>
          <p:cNvSpPr/>
          <p:nvPr/>
        </p:nvSpPr>
        <p:spPr>
          <a:xfrm>
            <a:off x="6272784" y="2542032"/>
            <a:ext cx="548640" cy="457200"/>
          </a:xfrm>
          <a:prstGeom prst="rect">
            <a:avLst/>
          </a:prstGeom>
          <a:noFill/>
          <a:ln/>
        </p:spPr>
        <p:txBody>
          <a:bodyPr wrap="square" rtlCol="0" anchor="ctr"/>
          <a:lstStyle/>
          <a:p>
            <a:pPr marL="0" indent="0">
              <a:buNone/>
            </a:pPr>
            <a:r>
              <a:rPr lang="en-US" sz="2200" b="1" dirty="0">
                <a:solidFill>
                  <a:srgbClr val="C9D9E0"/>
                </a:solidFill>
                <a:latin typeface="Cambria" pitchFamily="34" charset="0"/>
                <a:ea typeface="Cambria" pitchFamily="34" charset="-122"/>
                <a:cs typeface="Cambria" pitchFamily="34" charset="-120"/>
              </a:rPr>
              <a:t>3</a:t>
            </a:r>
            <a:endParaRPr lang="en-US" sz="2200" dirty="0"/>
          </a:p>
        </p:txBody>
      </p:sp>
      <p:sp>
        <p:nvSpPr>
          <p:cNvPr id="21" name="Text 19"/>
          <p:cNvSpPr/>
          <p:nvPr/>
        </p:nvSpPr>
        <p:spPr>
          <a:xfrm>
            <a:off x="6272784" y="2971800"/>
            <a:ext cx="2176272" cy="457200"/>
          </a:xfrm>
          <a:prstGeom prst="rect">
            <a:avLst/>
          </a:prstGeom>
          <a:noFill/>
          <a:ln/>
        </p:spPr>
        <p:txBody>
          <a:bodyPr wrap="square" rtlCol="0" anchor="ctr"/>
          <a:lstStyle/>
          <a:p>
            <a:pPr marL="0" indent="0">
              <a:buNone/>
            </a:pPr>
            <a:r>
              <a:rPr lang="en-US" sz="1650" b="1" dirty="0">
                <a:solidFill>
                  <a:srgbClr val="FFFFFF"/>
                </a:solidFill>
                <a:latin typeface="Calibri" pitchFamily="34" charset="0"/>
                <a:ea typeface="Calibri" pitchFamily="34" charset="-122"/>
                <a:cs typeface="Calibri" pitchFamily="34" charset="-120"/>
              </a:rPr>
              <a:t>MixColumns</a:t>
            </a:r>
            <a:endParaRPr lang="en-US" sz="1650" dirty="0"/>
          </a:p>
        </p:txBody>
      </p:sp>
      <p:sp>
        <p:nvSpPr>
          <p:cNvPr id="22" name="Text 20"/>
          <p:cNvSpPr/>
          <p:nvPr/>
        </p:nvSpPr>
        <p:spPr>
          <a:xfrm>
            <a:off x="6272784" y="3474720"/>
            <a:ext cx="2176272" cy="1234440"/>
          </a:xfrm>
          <a:prstGeom prst="rect">
            <a:avLst/>
          </a:prstGeom>
          <a:noFill/>
          <a:ln/>
        </p:spPr>
        <p:txBody>
          <a:bodyPr wrap="square" rtlCol="0" anchor="ctr"/>
          <a:lstStyle/>
          <a:p>
            <a:pPr marL="0" indent="0">
              <a:lnSpc>
                <a:spcPts val="1700"/>
              </a:lnSpc>
              <a:buNone/>
            </a:pPr>
            <a:r>
              <a:rPr lang="en-US" sz="1250" dirty="0">
                <a:solidFill>
                  <a:srgbClr val="EAF2F5"/>
                </a:solidFill>
                <a:latin typeface="Calibri" pitchFamily="34" charset="0"/>
                <a:ea typeface="Calibri" pitchFamily="34" charset="-122"/>
                <a:cs typeface="Calibri" pitchFamily="34" charset="-120"/>
              </a:rPr>
              <a:t>Mezcla los bytes de cada columna entre sí.</a:t>
            </a:r>
            <a:endParaRPr lang="en-US" sz="1250" dirty="0"/>
          </a:p>
        </p:txBody>
      </p:sp>
      <p:sp>
        <p:nvSpPr>
          <p:cNvPr id="23" name="Shape 21"/>
          <p:cNvSpPr/>
          <p:nvPr/>
        </p:nvSpPr>
        <p:spPr>
          <a:xfrm>
            <a:off x="6272784" y="4800600"/>
            <a:ext cx="2176272" cy="9144"/>
          </a:xfrm>
          <a:prstGeom prst="rect">
            <a:avLst/>
          </a:prstGeom>
          <a:noFill/>
          <a:ln w="12700">
            <a:solidFill>
              <a:srgbClr val="4F7FA0"/>
            </a:solidFill>
            <a:prstDash val="solid"/>
          </a:ln>
        </p:spPr>
      </p:sp>
      <p:sp>
        <p:nvSpPr>
          <p:cNvPr id="24" name="Text 22"/>
          <p:cNvSpPr/>
          <p:nvPr/>
        </p:nvSpPr>
        <p:spPr>
          <a:xfrm>
            <a:off x="6272784" y="4919472"/>
            <a:ext cx="2176272" cy="457200"/>
          </a:xfrm>
          <a:prstGeom prst="rect">
            <a:avLst/>
          </a:prstGeom>
          <a:noFill/>
          <a:ln/>
        </p:spPr>
        <p:txBody>
          <a:bodyPr wrap="square" rtlCol="0" anchor="ctr"/>
          <a:lstStyle/>
          <a:p>
            <a:pPr marL="0" indent="0">
              <a:buNone/>
            </a:pPr>
            <a:r>
              <a:rPr lang="en-US" sz="1150" i="1" dirty="0">
                <a:solidFill>
                  <a:srgbClr val="C9D9E0"/>
                </a:solidFill>
                <a:latin typeface="Calibri" pitchFamily="34" charset="0"/>
                <a:ea typeface="Calibri" pitchFamily="34" charset="-122"/>
                <a:cs typeface="Calibri" pitchFamily="34" charset="-120"/>
              </a:rPr>
              <a:t>Refuerza la difusión</a:t>
            </a:r>
            <a:endParaRPr lang="en-US" sz="1150" dirty="0"/>
          </a:p>
        </p:txBody>
      </p:sp>
      <p:sp>
        <p:nvSpPr>
          <p:cNvPr id="25" name="Shape 23"/>
          <p:cNvSpPr/>
          <p:nvPr/>
        </p:nvSpPr>
        <p:spPr>
          <a:xfrm>
            <a:off x="8641080" y="3794760"/>
            <a:ext cx="201168" cy="274320"/>
          </a:xfrm>
          <a:prstGeom prst="rightArrow">
            <a:avLst/>
          </a:prstGeom>
          <a:solidFill>
            <a:srgbClr val="5B6B73"/>
          </a:solidFill>
          <a:ln/>
        </p:spPr>
      </p:sp>
      <p:sp>
        <p:nvSpPr>
          <p:cNvPr id="26" name="Shape 24"/>
          <p:cNvSpPr/>
          <p:nvPr/>
        </p:nvSpPr>
        <p:spPr>
          <a:xfrm>
            <a:off x="8860536" y="2377440"/>
            <a:ext cx="2542032" cy="3108960"/>
          </a:xfrm>
          <a:prstGeom prst="roundRect">
            <a:avLst>
              <a:gd name="adj" fmla="val 3597"/>
            </a:avLst>
          </a:prstGeom>
          <a:solidFill>
            <a:srgbClr val="1C7293"/>
          </a:solidFill>
          <a:ln/>
          <a:effectLst>
            <a:outerShdw blurRad="76200" dist="25400" dir="5400000" algn="bl" rotWithShape="0">
              <a:srgbClr val="000000">
                <a:alpha val="10000"/>
              </a:srgbClr>
            </a:outerShdw>
          </a:effectLst>
        </p:spPr>
      </p:sp>
      <p:sp>
        <p:nvSpPr>
          <p:cNvPr id="27" name="Text 25"/>
          <p:cNvSpPr/>
          <p:nvPr/>
        </p:nvSpPr>
        <p:spPr>
          <a:xfrm>
            <a:off x="9043416" y="2542032"/>
            <a:ext cx="548640" cy="457200"/>
          </a:xfrm>
          <a:prstGeom prst="rect">
            <a:avLst/>
          </a:prstGeom>
          <a:noFill/>
          <a:ln/>
        </p:spPr>
        <p:txBody>
          <a:bodyPr wrap="square" rtlCol="0" anchor="ctr"/>
          <a:lstStyle/>
          <a:p>
            <a:pPr marL="0" indent="0">
              <a:buNone/>
            </a:pPr>
            <a:r>
              <a:rPr lang="en-US" sz="2200" b="1" dirty="0">
                <a:solidFill>
                  <a:srgbClr val="C9D9E0"/>
                </a:solidFill>
                <a:latin typeface="Cambria" pitchFamily="34" charset="0"/>
                <a:ea typeface="Cambria" pitchFamily="34" charset="-122"/>
                <a:cs typeface="Cambria" pitchFamily="34" charset="-120"/>
              </a:rPr>
              <a:t>4</a:t>
            </a:r>
            <a:endParaRPr lang="en-US" sz="2200" dirty="0"/>
          </a:p>
        </p:txBody>
      </p:sp>
      <p:sp>
        <p:nvSpPr>
          <p:cNvPr id="28" name="Text 26"/>
          <p:cNvSpPr/>
          <p:nvPr/>
        </p:nvSpPr>
        <p:spPr>
          <a:xfrm>
            <a:off x="9043416" y="2971800"/>
            <a:ext cx="2176272" cy="457200"/>
          </a:xfrm>
          <a:prstGeom prst="rect">
            <a:avLst/>
          </a:prstGeom>
          <a:noFill/>
          <a:ln/>
        </p:spPr>
        <p:txBody>
          <a:bodyPr wrap="square" rtlCol="0" anchor="ctr"/>
          <a:lstStyle/>
          <a:p>
            <a:pPr marL="0" indent="0">
              <a:buNone/>
            </a:pPr>
            <a:r>
              <a:rPr lang="en-US" sz="1650" b="1" dirty="0">
                <a:solidFill>
                  <a:srgbClr val="FFFFFF"/>
                </a:solidFill>
                <a:latin typeface="Calibri" pitchFamily="34" charset="0"/>
                <a:ea typeface="Calibri" pitchFamily="34" charset="-122"/>
                <a:cs typeface="Calibri" pitchFamily="34" charset="-120"/>
              </a:rPr>
              <a:t>AddRoundKey</a:t>
            </a:r>
            <a:endParaRPr lang="en-US" sz="1650" dirty="0"/>
          </a:p>
        </p:txBody>
      </p:sp>
      <p:sp>
        <p:nvSpPr>
          <p:cNvPr id="29" name="Text 27"/>
          <p:cNvSpPr/>
          <p:nvPr/>
        </p:nvSpPr>
        <p:spPr>
          <a:xfrm>
            <a:off x="9043416" y="3474720"/>
            <a:ext cx="2176272" cy="1234440"/>
          </a:xfrm>
          <a:prstGeom prst="rect">
            <a:avLst/>
          </a:prstGeom>
          <a:noFill/>
          <a:ln/>
        </p:spPr>
        <p:txBody>
          <a:bodyPr wrap="square" rtlCol="0" anchor="ctr"/>
          <a:lstStyle/>
          <a:p>
            <a:pPr marL="0" indent="0">
              <a:lnSpc>
                <a:spcPts val="1700"/>
              </a:lnSpc>
              <a:buNone/>
            </a:pPr>
            <a:r>
              <a:rPr lang="en-US" sz="1250" dirty="0">
                <a:solidFill>
                  <a:srgbClr val="EAF2F5"/>
                </a:solidFill>
                <a:latin typeface="Calibri" pitchFamily="34" charset="0"/>
                <a:ea typeface="Calibri" pitchFamily="34" charset="-122"/>
                <a:cs typeface="Calibri" pitchFamily="34" charset="-120"/>
              </a:rPr>
              <a:t>Combina el resultado con un trozo de la clave.</a:t>
            </a:r>
            <a:endParaRPr lang="en-US" sz="1250" dirty="0"/>
          </a:p>
        </p:txBody>
      </p:sp>
      <p:sp>
        <p:nvSpPr>
          <p:cNvPr id="30" name="Shape 28"/>
          <p:cNvSpPr/>
          <p:nvPr/>
        </p:nvSpPr>
        <p:spPr>
          <a:xfrm>
            <a:off x="9043416" y="4800600"/>
            <a:ext cx="2176272" cy="9144"/>
          </a:xfrm>
          <a:prstGeom prst="rect">
            <a:avLst/>
          </a:prstGeom>
          <a:noFill/>
          <a:ln w="12700">
            <a:solidFill>
              <a:srgbClr val="4F7FA0"/>
            </a:solidFill>
            <a:prstDash val="solid"/>
          </a:ln>
        </p:spPr>
      </p:sp>
      <p:sp>
        <p:nvSpPr>
          <p:cNvPr id="31" name="Text 29"/>
          <p:cNvSpPr/>
          <p:nvPr/>
        </p:nvSpPr>
        <p:spPr>
          <a:xfrm>
            <a:off x="9043416" y="4919472"/>
            <a:ext cx="2176272" cy="457200"/>
          </a:xfrm>
          <a:prstGeom prst="rect">
            <a:avLst/>
          </a:prstGeom>
          <a:noFill/>
          <a:ln/>
        </p:spPr>
        <p:txBody>
          <a:bodyPr wrap="square" rtlCol="0" anchor="ctr"/>
          <a:lstStyle/>
          <a:p>
            <a:pPr marL="0" indent="0">
              <a:buNone/>
            </a:pPr>
            <a:r>
              <a:rPr lang="en-US" sz="1150" i="1" dirty="0">
                <a:solidFill>
                  <a:srgbClr val="C9D9E0"/>
                </a:solidFill>
                <a:latin typeface="Calibri" pitchFamily="34" charset="0"/>
                <a:ea typeface="Calibri" pitchFamily="34" charset="-122"/>
                <a:cs typeface="Calibri" pitchFamily="34" charset="-120"/>
              </a:rPr>
              <a:t>Mete el secreto</a:t>
            </a:r>
            <a:endParaRPr lang="en-US" sz="1150" dirty="0"/>
          </a:p>
        </p:txBody>
      </p:sp>
      <p:sp>
        <p:nvSpPr>
          <p:cNvPr id="32" name="Text 30"/>
          <p:cNvSpPr/>
          <p:nvPr/>
        </p:nvSpPr>
        <p:spPr>
          <a:xfrm>
            <a:off x="548640" y="5669280"/>
            <a:ext cx="10789920" cy="365760"/>
          </a:xfrm>
          <a:prstGeom prst="rect">
            <a:avLst/>
          </a:prstGeom>
          <a:noFill/>
          <a:ln/>
        </p:spPr>
        <p:txBody>
          <a:bodyPr wrap="square" rtlCol="0" anchor="ctr"/>
          <a:lstStyle/>
          <a:p>
            <a:pPr marL="0" indent="0">
              <a:buNone/>
            </a:pPr>
            <a:r>
              <a:rPr lang="en-US" sz="1300" i="1" dirty="0">
                <a:solidFill>
                  <a:srgbClr val="5B6B73"/>
                </a:solidFill>
                <a:latin typeface="Calibri" pitchFamily="34" charset="0"/>
                <a:ea typeface="Calibri" pitchFamily="34" charset="-122"/>
                <a:cs typeface="Calibri" pitchFamily="34" charset="-120"/>
              </a:rPr>
              <a:t>Esto se repite ronda tras ronda — y en </a:t>
            </a:r>
            <a:r>
              <a:rPr lang="en-US" sz="1300" i="1" dirty="0" err="1">
                <a:solidFill>
                  <a:srgbClr val="5B6B73"/>
                </a:solidFill>
                <a:latin typeface="Calibri" pitchFamily="34" charset="0"/>
                <a:ea typeface="Calibri" pitchFamily="34" charset="-122"/>
                <a:cs typeface="Calibri" pitchFamily="34" charset="-120"/>
              </a:rPr>
              <a:t>cada</a:t>
            </a:r>
            <a:r>
              <a:rPr lang="en-US" sz="1300" i="1" dirty="0">
                <a:solidFill>
                  <a:srgbClr val="5B6B73"/>
                </a:solidFill>
                <a:latin typeface="Calibri" pitchFamily="34" charset="0"/>
                <a:ea typeface="Calibri" pitchFamily="34" charset="-122"/>
                <a:cs typeface="Calibri" pitchFamily="34" charset="-120"/>
              </a:rPr>
              <a:t> </a:t>
            </a:r>
            <a:r>
              <a:rPr lang="en-US" sz="1300" i="1" dirty="0" err="1">
                <a:solidFill>
                  <a:srgbClr val="5B6B73"/>
                </a:solidFill>
                <a:latin typeface="Calibri" pitchFamily="34" charset="0"/>
                <a:ea typeface="Calibri" pitchFamily="34" charset="-122"/>
                <a:cs typeface="Calibri" pitchFamily="34" charset="-120"/>
              </a:rPr>
              <a:t>iteración</a:t>
            </a:r>
            <a:r>
              <a:rPr lang="en-US" sz="1300" i="1" dirty="0">
                <a:solidFill>
                  <a:srgbClr val="5B6B73"/>
                </a:solidFill>
                <a:latin typeface="Calibri" pitchFamily="34" charset="0"/>
                <a:ea typeface="Calibri" pitchFamily="34" charset="-122"/>
                <a:cs typeface="Calibri" pitchFamily="34" charset="-120"/>
              </a:rPr>
              <a:t> el secreto se mezcla un poco más con el mensaje.</a:t>
            </a:r>
            <a:endParaRPr lang="en-US" sz="1300" dirty="0"/>
          </a:p>
        </p:txBody>
      </p:sp>
      <p:sp>
        <p:nvSpPr>
          <p:cNvPr id="33" name="Text 31"/>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UNA CLAVE, MUCHAS LLAVES</a:t>
            </a:r>
            <a:endParaRPr lang="en-US" sz="13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Expansión de claves</a:t>
            </a:r>
            <a:endParaRPr lang="en-US" sz="3000" dirty="0"/>
          </a:p>
        </p:txBody>
      </p:sp>
      <p:sp>
        <p:nvSpPr>
          <p:cNvPr id="4" name="Text 2"/>
          <p:cNvSpPr/>
          <p:nvPr/>
        </p:nvSpPr>
        <p:spPr>
          <a:xfrm>
            <a:off x="548640" y="1783080"/>
            <a:ext cx="6035040" cy="1188720"/>
          </a:xfrm>
          <a:prstGeom prst="rect">
            <a:avLst/>
          </a:prstGeom>
          <a:noFill/>
          <a:ln/>
        </p:spPr>
        <p:txBody>
          <a:bodyPr wrap="square" rtlCol="0" anchor="ctr"/>
          <a:lstStyle/>
          <a:p>
            <a:pPr marL="0" indent="0">
              <a:lnSpc>
                <a:spcPts val="2300"/>
              </a:lnSpc>
              <a:buNone/>
            </a:pPr>
            <a:r>
              <a:rPr lang="en-US" sz="1600" dirty="0">
                <a:solidFill>
                  <a:srgbClr val="1F2A33"/>
                </a:solidFill>
                <a:latin typeface="Calibri" pitchFamily="34" charset="0"/>
                <a:ea typeface="Calibri" pitchFamily="34" charset="-122"/>
                <a:cs typeface="Calibri" pitchFamily="34" charset="-120"/>
              </a:rPr>
              <a:t>AES no usa la misma clave en </a:t>
            </a:r>
            <a:r>
              <a:rPr lang="en-US" sz="1600" dirty="0" err="1">
                <a:solidFill>
                  <a:srgbClr val="1F2A33"/>
                </a:solidFill>
                <a:latin typeface="Calibri" pitchFamily="34" charset="0"/>
                <a:ea typeface="Calibri" pitchFamily="34" charset="-122"/>
                <a:cs typeface="Calibri" pitchFamily="34" charset="-120"/>
              </a:rPr>
              <a:t>cada</a:t>
            </a:r>
            <a:r>
              <a:rPr lang="en-US" sz="1600" dirty="0">
                <a:solidFill>
                  <a:srgbClr val="1F2A33"/>
                </a:solidFill>
                <a:latin typeface="Calibri" pitchFamily="34" charset="0"/>
                <a:ea typeface="Calibri" pitchFamily="34" charset="-122"/>
                <a:cs typeface="Calibri" pitchFamily="34" charset="-120"/>
              </a:rPr>
              <a:t> </a:t>
            </a:r>
            <a:r>
              <a:rPr lang="en-US" sz="1600" dirty="0" err="1">
                <a:solidFill>
                  <a:srgbClr val="1F2A33"/>
                </a:solidFill>
                <a:latin typeface="Calibri" pitchFamily="34" charset="0"/>
                <a:ea typeface="Calibri" pitchFamily="34" charset="-122"/>
                <a:cs typeface="Calibri" pitchFamily="34" charset="-120"/>
              </a:rPr>
              <a:t>iteración</a:t>
            </a:r>
            <a:r>
              <a:rPr lang="en-US" sz="1600" dirty="0">
                <a:solidFill>
                  <a:srgbClr val="1F2A33"/>
                </a:solidFill>
                <a:latin typeface="Calibri" pitchFamily="34" charset="0"/>
                <a:ea typeface="Calibri" pitchFamily="34" charset="-122"/>
                <a:cs typeface="Calibri" pitchFamily="34" charset="-120"/>
              </a:rPr>
              <a:t>: a partir de la clave original genera 11 “llaves de ronda” distintas, una para cada paso del proceso.</a:t>
            </a:r>
            <a:endParaRPr lang="en-US" sz="1600" dirty="0"/>
          </a:p>
        </p:txBody>
      </p:sp>
      <p:sp>
        <p:nvSpPr>
          <p:cNvPr id="5" name="Text 3"/>
          <p:cNvSpPr/>
          <p:nvPr/>
        </p:nvSpPr>
        <p:spPr>
          <a:xfrm>
            <a:off x="548640" y="3108960"/>
            <a:ext cx="6035040" cy="1280160"/>
          </a:xfrm>
          <a:prstGeom prst="rect">
            <a:avLst/>
          </a:prstGeom>
          <a:noFill/>
          <a:ln/>
        </p:spPr>
        <p:txBody>
          <a:bodyPr wrap="square" rtlCol="0" anchor="ctr"/>
          <a:lstStyle/>
          <a:p>
            <a:pPr marL="0" indent="0">
              <a:lnSpc>
                <a:spcPts val="2000"/>
              </a:lnSpc>
              <a:buNone/>
            </a:pPr>
            <a:r>
              <a:rPr lang="en-US" sz="1400" i="1" dirty="0">
                <a:solidFill>
                  <a:srgbClr val="1C7293"/>
                </a:solidFill>
                <a:latin typeface="Calibri" pitchFamily="34" charset="0"/>
                <a:ea typeface="Calibri" pitchFamily="34" charset="-122"/>
                <a:cs typeface="Calibri" pitchFamily="34" charset="-120"/>
              </a:rPr>
              <a:t>Es </a:t>
            </a:r>
            <a:r>
              <a:rPr lang="en-US" sz="1400" i="1" dirty="0" err="1">
                <a:solidFill>
                  <a:srgbClr val="1C7293"/>
                </a:solidFill>
                <a:latin typeface="Calibri" pitchFamily="34" charset="0"/>
                <a:ea typeface="Calibri" pitchFamily="34" charset="-122"/>
                <a:cs typeface="Calibri" pitchFamily="34" charset="-120"/>
              </a:rPr>
              <a:t>como</a:t>
            </a:r>
            <a:r>
              <a:rPr lang="en-US" sz="1400" i="1" dirty="0">
                <a:solidFill>
                  <a:srgbClr val="1C7293"/>
                </a:solidFill>
                <a:latin typeface="Calibri" pitchFamily="34" charset="0"/>
                <a:ea typeface="Calibri" pitchFamily="34" charset="-122"/>
                <a:cs typeface="Calibri" pitchFamily="34" charset="-120"/>
              </a:rPr>
              <a:t> un llavero maestro: a partir de una sola llave original, se generan copias modificadas, cada una distinta, para abrir una puerta diferente en cada ronda.</a:t>
            </a:r>
            <a:endParaRPr lang="en-US" sz="1400" dirty="0"/>
          </a:p>
        </p:txBody>
      </p:sp>
      <p:sp>
        <p:nvSpPr>
          <p:cNvPr id="6" name="Shape 4"/>
          <p:cNvSpPr/>
          <p:nvPr/>
        </p:nvSpPr>
        <p:spPr>
          <a:xfrm>
            <a:off x="685800" y="4617720"/>
            <a:ext cx="1463040" cy="1005840"/>
          </a:xfrm>
          <a:prstGeom prst="roundRect">
            <a:avLst>
              <a:gd name="adj" fmla="val 9091"/>
            </a:avLst>
          </a:prstGeom>
          <a:solidFill>
            <a:srgbClr val="21295C"/>
          </a:solidFill>
          <a:ln/>
        </p:spPr>
      </p:sp>
      <p:pic>
        <p:nvPicPr>
          <p:cNvPr id="7" name="Image 0" descr="icons/key_white.png"/>
          <p:cNvPicPr>
            <a:picLocks noChangeAspect="1"/>
          </p:cNvPicPr>
          <p:nvPr/>
        </p:nvPicPr>
        <p:blipFill>
          <a:blip r:embed="rId3"/>
          <a:stretch>
            <a:fillRect/>
          </a:stretch>
        </p:blipFill>
        <p:spPr>
          <a:xfrm>
            <a:off x="1143000" y="4846320"/>
            <a:ext cx="548640" cy="548640"/>
          </a:xfrm>
          <a:prstGeom prst="rect">
            <a:avLst/>
          </a:prstGeom>
        </p:spPr>
      </p:pic>
      <p:sp>
        <p:nvSpPr>
          <p:cNvPr id="8" name="Text 5"/>
          <p:cNvSpPr/>
          <p:nvPr/>
        </p:nvSpPr>
        <p:spPr>
          <a:xfrm>
            <a:off x="685800" y="5669280"/>
            <a:ext cx="1463040" cy="457200"/>
          </a:xfrm>
          <a:prstGeom prst="rect">
            <a:avLst/>
          </a:prstGeom>
          <a:noFill/>
          <a:ln/>
        </p:spPr>
        <p:txBody>
          <a:bodyPr wrap="square" rtlCol="0" anchor="ctr"/>
          <a:lstStyle/>
          <a:p>
            <a:pPr marL="0" indent="0" algn="ctr">
              <a:buNone/>
            </a:pPr>
            <a:r>
              <a:rPr lang="en-US" sz="1100" dirty="0">
                <a:solidFill>
                  <a:srgbClr val="5B6B73"/>
                </a:solidFill>
                <a:latin typeface="Calibri" pitchFamily="34" charset="0"/>
                <a:ea typeface="Calibri" pitchFamily="34" charset="-122"/>
                <a:cs typeface="Calibri" pitchFamily="34" charset="-120"/>
              </a:rPr>
              <a:t>Clave</a:t>
            </a:r>
            <a:endParaRPr lang="en-US" sz="1100" dirty="0"/>
          </a:p>
          <a:p>
            <a:pPr marL="0" indent="0" algn="ctr">
              <a:buNone/>
            </a:pPr>
            <a:r>
              <a:rPr lang="en-US" sz="1100" dirty="0">
                <a:solidFill>
                  <a:srgbClr val="5B6B73"/>
                </a:solidFill>
                <a:latin typeface="Calibri" pitchFamily="34" charset="0"/>
                <a:ea typeface="Calibri" pitchFamily="34" charset="-122"/>
                <a:cs typeface="Calibri" pitchFamily="34" charset="-120"/>
              </a:rPr>
              <a:t>original</a:t>
            </a:r>
            <a:endParaRPr lang="en-US" sz="1100" dirty="0"/>
          </a:p>
        </p:txBody>
      </p:sp>
      <p:sp>
        <p:nvSpPr>
          <p:cNvPr id="9" name="Shape 6"/>
          <p:cNvSpPr/>
          <p:nvPr/>
        </p:nvSpPr>
        <p:spPr>
          <a:xfrm>
            <a:off x="2331720" y="4937760"/>
            <a:ext cx="457200" cy="365760"/>
          </a:xfrm>
          <a:prstGeom prst="rightArrow">
            <a:avLst/>
          </a:prstGeom>
          <a:solidFill>
            <a:srgbClr val="1C7293"/>
          </a:solidFill>
          <a:ln/>
        </p:spPr>
      </p:sp>
      <p:sp>
        <p:nvSpPr>
          <p:cNvPr id="10" name="Shape 7"/>
          <p:cNvSpPr/>
          <p:nvPr/>
        </p:nvSpPr>
        <p:spPr>
          <a:xfrm>
            <a:off x="2971800" y="4846320"/>
            <a:ext cx="310896" cy="548640"/>
          </a:xfrm>
          <a:prstGeom prst="roundRect">
            <a:avLst>
              <a:gd name="adj" fmla="val 14706"/>
            </a:avLst>
          </a:prstGeom>
          <a:solidFill>
            <a:srgbClr val="1C7293"/>
          </a:solidFill>
          <a:ln/>
        </p:spPr>
      </p:sp>
      <p:sp>
        <p:nvSpPr>
          <p:cNvPr id="11" name="Shape 8"/>
          <p:cNvSpPr/>
          <p:nvPr/>
        </p:nvSpPr>
        <p:spPr>
          <a:xfrm>
            <a:off x="3355848" y="4846320"/>
            <a:ext cx="310896" cy="548640"/>
          </a:xfrm>
          <a:prstGeom prst="roundRect">
            <a:avLst>
              <a:gd name="adj" fmla="val 14706"/>
            </a:avLst>
          </a:prstGeom>
          <a:solidFill>
            <a:srgbClr val="1C7293"/>
          </a:solidFill>
          <a:ln/>
        </p:spPr>
      </p:sp>
      <p:sp>
        <p:nvSpPr>
          <p:cNvPr id="12" name="Shape 9"/>
          <p:cNvSpPr/>
          <p:nvPr/>
        </p:nvSpPr>
        <p:spPr>
          <a:xfrm>
            <a:off x="3739896" y="4846320"/>
            <a:ext cx="310896" cy="548640"/>
          </a:xfrm>
          <a:prstGeom prst="roundRect">
            <a:avLst>
              <a:gd name="adj" fmla="val 14706"/>
            </a:avLst>
          </a:prstGeom>
          <a:solidFill>
            <a:srgbClr val="1C7293"/>
          </a:solidFill>
          <a:ln/>
        </p:spPr>
      </p:sp>
      <p:sp>
        <p:nvSpPr>
          <p:cNvPr id="13" name="Shape 10"/>
          <p:cNvSpPr/>
          <p:nvPr/>
        </p:nvSpPr>
        <p:spPr>
          <a:xfrm>
            <a:off x="4123944" y="4846320"/>
            <a:ext cx="310896" cy="548640"/>
          </a:xfrm>
          <a:prstGeom prst="roundRect">
            <a:avLst>
              <a:gd name="adj" fmla="val 14706"/>
            </a:avLst>
          </a:prstGeom>
          <a:solidFill>
            <a:srgbClr val="1C7293"/>
          </a:solidFill>
          <a:ln/>
        </p:spPr>
      </p:sp>
      <p:sp>
        <p:nvSpPr>
          <p:cNvPr id="14" name="Shape 11"/>
          <p:cNvSpPr/>
          <p:nvPr/>
        </p:nvSpPr>
        <p:spPr>
          <a:xfrm>
            <a:off x="4507992" y="4846320"/>
            <a:ext cx="310896" cy="548640"/>
          </a:xfrm>
          <a:prstGeom prst="roundRect">
            <a:avLst>
              <a:gd name="adj" fmla="val 14706"/>
            </a:avLst>
          </a:prstGeom>
          <a:solidFill>
            <a:srgbClr val="1C7293"/>
          </a:solidFill>
          <a:ln/>
        </p:spPr>
      </p:sp>
      <p:sp>
        <p:nvSpPr>
          <p:cNvPr id="15" name="Shape 12"/>
          <p:cNvSpPr/>
          <p:nvPr/>
        </p:nvSpPr>
        <p:spPr>
          <a:xfrm>
            <a:off x="4892040" y="4846320"/>
            <a:ext cx="310896" cy="548640"/>
          </a:xfrm>
          <a:prstGeom prst="roundRect">
            <a:avLst>
              <a:gd name="adj" fmla="val 14706"/>
            </a:avLst>
          </a:prstGeom>
          <a:solidFill>
            <a:srgbClr val="1C7293"/>
          </a:solidFill>
          <a:ln/>
        </p:spPr>
      </p:sp>
      <p:sp>
        <p:nvSpPr>
          <p:cNvPr id="16" name="Shape 13"/>
          <p:cNvSpPr/>
          <p:nvPr/>
        </p:nvSpPr>
        <p:spPr>
          <a:xfrm>
            <a:off x="5276088" y="4846320"/>
            <a:ext cx="310896" cy="548640"/>
          </a:xfrm>
          <a:prstGeom prst="roundRect">
            <a:avLst>
              <a:gd name="adj" fmla="val 14706"/>
            </a:avLst>
          </a:prstGeom>
          <a:solidFill>
            <a:srgbClr val="1C7293"/>
          </a:solidFill>
          <a:ln/>
        </p:spPr>
      </p:sp>
      <p:sp>
        <p:nvSpPr>
          <p:cNvPr id="17" name="Shape 14"/>
          <p:cNvSpPr/>
          <p:nvPr/>
        </p:nvSpPr>
        <p:spPr>
          <a:xfrm>
            <a:off x="5660136" y="4846320"/>
            <a:ext cx="310896" cy="548640"/>
          </a:xfrm>
          <a:prstGeom prst="roundRect">
            <a:avLst>
              <a:gd name="adj" fmla="val 14706"/>
            </a:avLst>
          </a:prstGeom>
          <a:solidFill>
            <a:srgbClr val="1C7293"/>
          </a:solidFill>
          <a:ln/>
        </p:spPr>
      </p:sp>
      <p:sp>
        <p:nvSpPr>
          <p:cNvPr id="18" name="Text 15"/>
          <p:cNvSpPr/>
          <p:nvPr/>
        </p:nvSpPr>
        <p:spPr>
          <a:xfrm>
            <a:off x="2971800" y="5486400"/>
            <a:ext cx="3657600" cy="365760"/>
          </a:xfrm>
          <a:prstGeom prst="rect">
            <a:avLst/>
          </a:prstGeom>
          <a:noFill/>
          <a:ln/>
        </p:spPr>
        <p:txBody>
          <a:bodyPr wrap="square" rtlCol="0" anchor="ctr"/>
          <a:lstStyle/>
          <a:p>
            <a:pPr marL="0" indent="0">
              <a:buNone/>
            </a:pPr>
            <a:r>
              <a:rPr lang="en-US" sz="1100" i="1" dirty="0">
                <a:solidFill>
                  <a:srgbClr val="5B6B73"/>
                </a:solidFill>
                <a:latin typeface="Calibri" pitchFamily="34" charset="0"/>
                <a:ea typeface="Calibri" pitchFamily="34" charset="-122"/>
                <a:cs typeface="Calibri" pitchFamily="34" charset="-120"/>
              </a:rPr>
              <a:t>... 11 llaves de ronda en total</a:t>
            </a:r>
            <a:endParaRPr lang="en-US" sz="1100" dirty="0"/>
          </a:p>
        </p:txBody>
      </p:sp>
      <p:sp>
        <p:nvSpPr>
          <p:cNvPr id="19" name="Shape 16"/>
          <p:cNvSpPr/>
          <p:nvPr/>
        </p:nvSpPr>
        <p:spPr>
          <a:xfrm>
            <a:off x="7360920" y="1783080"/>
            <a:ext cx="4297680" cy="4023360"/>
          </a:xfrm>
          <a:prstGeom prst="roundRect">
            <a:avLst>
              <a:gd name="adj" fmla="val 2273"/>
            </a:avLst>
          </a:prstGeom>
          <a:solidFill>
            <a:srgbClr val="EAF2F5"/>
          </a:solidFill>
          <a:ln/>
          <a:effectLst>
            <a:outerShdw blurRad="101600" dist="38100" dir="5400000" algn="bl" rotWithShape="0">
              <a:srgbClr val="000000">
                <a:alpha val="10000"/>
              </a:srgbClr>
            </a:outerShdw>
          </a:effectLst>
        </p:spPr>
      </p:sp>
      <p:pic>
        <p:nvPicPr>
          <p:cNvPr id="20" name="Image 1" descr="icons/check_teal.png"/>
          <p:cNvPicPr>
            <a:picLocks noChangeAspect="1"/>
          </p:cNvPicPr>
          <p:nvPr/>
        </p:nvPicPr>
        <p:blipFill>
          <a:blip r:embed="rId4"/>
          <a:stretch>
            <a:fillRect/>
          </a:stretch>
        </p:blipFill>
        <p:spPr>
          <a:xfrm>
            <a:off x="7635240" y="2011680"/>
            <a:ext cx="365760" cy="365760"/>
          </a:xfrm>
          <a:prstGeom prst="rect">
            <a:avLst/>
          </a:prstGeom>
        </p:spPr>
      </p:pic>
      <p:sp>
        <p:nvSpPr>
          <p:cNvPr id="21" name="Text 17"/>
          <p:cNvSpPr/>
          <p:nvPr/>
        </p:nvSpPr>
        <p:spPr>
          <a:xfrm>
            <a:off x="8138160" y="2029968"/>
            <a:ext cx="3383280" cy="365760"/>
          </a:xfrm>
          <a:prstGeom prst="rect">
            <a:avLst/>
          </a:prstGeom>
          <a:noFill/>
          <a:ln/>
        </p:spPr>
        <p:txBody>
          <a:bodyPr wrap="square" rtlCol="0" anchor="ctr"/>
          <a:lstStyle/>
          <a:p>
            <a:pPr marL="0" indent="0">
              <a:buNone/>
            </a:pPr>
            <a:r>
              <a:rPr lang="en-US" sz="1550" b="1" dirty="0">
                <a:solidFill>
                  <a:srgbClr val="21295C"/>
                </a:solidFill>
                <a:latin typeface="Calibri" pitchFamily="34" charset="0"/>
                <a:ea typeface="Calibri" pitchFamily="34" charset="-122"/>
                <a:cs typeface="Calibri" pitchFamily="34" charset="-120"/>
              </a:rPr>
              <a:t>¿Por qué importa?</a:t>
            </a:r>
            <a:endParaRPr lang="en-US" sz="1550" dirty="0"/>
          </a:p>
        </p:txBody>
      </p:sp>
      <p:sp>
        <p:nvSpPr>
          <p:cNvPr id="22" name="Text 18"/>
          <p:cNvSpPr/>
          <p:nvPr/>
        </p:nvSpPr>
        <p:spPr>
          <a:xfrm>
            <a:off x="7635240" y="2606040"/>
            <a:ext cx="3749040" cy="3017520"/>
          </a:xfrm>
          <a:prstGeom prst="rect">
            <a:avLst/>
          </a:prstGeom>
          <a:noFill/>
          <a:ln/>
        </p:spPr>
        <p:txBody>
          <a:bodyPr wrap="square" rtlCol="0" anchor="ctr"/>
          <a:lstStyle/>
          <a:p>
            <a:pPr marL="0" indent="0">
              <a:lnSpc>
                <a:spcPts val="1900"/>
              </a:lnSpc>
              <a:buNone/>
            </a:pPr>
            <a:r>
              <a:rPr lang="en-US" sz="1350" dirty="0">
                <a:solidFill>
                  <a:srgbClr val="1F2A33"/>
                </a:solidFill>
                <a:latin typeface="Calibri" pitchFamily="34" charset="0"/>
                <a:ea typeface="Calibri" pitchFamily="34" charset="-122"/>
                <a:cs typeface="Calibri" pitchFamily="34" charset="-120"/>
              </a:rPr>
              <a:t>Si se usara la misma clave en todas las rondas, sería mucho más fácil para un atacante encontrar patrones. Variar la llave en cada paso multiplica la dificultad de romper el cifrado, sin necesitar una clave más larga.</a:t>
            </a:r>
            <a:endParaRPr lang="en-US" sz="1350" dirty="0"/>
          </a:p>
        </p:txBody>
      </p:sp>
      <p:sp>
        <p:nvSpPr>
          <p:cNvPr id="23" name="Text 19"/>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NUESTRO TRABAJO</a:t>
            </a:r>
            <a:endParaRPr lang="en-US" sz="13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Construimos AES desde cero, en Python</a:t>
            </a:r>
            <a:endParaRPr lang="en-US" sz="3000" dirty="0"/>
          </a:p>
        </p:txBody>
      </p:sp>
      <p:sp>
        <p:nvSpPr>
          <p:cNvPr id="4" name="Text 2"/>
          <p:cNvSpPr/>
          <p:nvPr/>
        </p:nvSpPr>
        <p:spPr>
          <a:xfrm>
            <a:off x="548640" y="1783080"/>
            <a:ext cx="10789920" cy="457200"/>
          </a:xfrm>
          <a:prstGeom prst="rect">
            <a:avLst/>
          </a:prstGeom>
          <a:noFill/>
          <a:ln/>
        </p:spPr>
        <p:txBody>
          <a:bodyPr wrap="square" rtlCol="0" anchor="ctr"/>
          <a:lstStyle/>
          <a:p>
            <a:pPr marL="0" indent="0">
              <a:buNone/>
            </a:pPr>
            <a:r>
              <a:rPr lang="en-US" sz="1450" dirty="0">
                <a:solidFill>
                  <a:srgbClr val="5B6B73"/>
                </a:solidFill>
                <a:latin typeface="Calibri" pitchFamily="34" charset="0"/>
                <a:ea typeface="Calibri" pitchFamily="34" charset="-122"/>
                <a:cs typeface="Calibri" pitchFamily="34" charset="-120"/>
              </a:rPr>
              <a:t>Sin usar ninguna librería criptográfica externa: programamos cada pieza del algoritmo </a:t>
            </a:r>
            <a:r>
              <a:rPr lang="en-US" sz="1450" dirty="0" err="1">
                <a:solidFill>
                  <a:srgbClr val="5B6B73"/>
                </a:solidFill>
                <a:latin typeface="Calibri" pitchFamily="34" charset="0"/>
                <a:ea typeface="Calibri" pitchFamily="34" charset="-122"/>
                <a:cs typeface="Calibri" pitchFamily="34" charset="-120"/>
              </a:rPr>
              <a:t>nosotros</a:t>
            </a:r>
            <a:r>
              <a:rPr lang="en-US" sz="1450" dirty="0">
                <a:solidFill>
                  <a:srgbClr val="5B6B73"/>
                </a:solidFill>
                <a:latin typeface="Calibri" pitchFamily="34" charset="0"/>
                <a:ea typeface="Calibri" pitchFamily="34" charset="-122"/>
                <a:cs typeface="Calibri" pitchFamily="34" charset="-120"/>
              </a:rPr>
              <a:t> </a:t>
            </a:r>
            <a:r>
              <a:rPr lang="en-US" sz="1450" dirty="0" err="1">
                <a:solidFill>
                  <a:srgbClr val="5B6B73"/>
                </a:solidFill>
                <a:latin typeface="Calibri" pitchFamily="34" charset="0"/>
                <a:ea typeface="Calibri" pitchFamily="34" charset="-122"/>
                <a:cs typeface="Calibri" pitchFamily="34" charset="-120"/>
              </a:rPr>
              <a:t>mismos</a:t>
            </a:r>
            <a:r>
              <a:rPr lang="en-US" sz="1450" dirty="0">
                <a:solidFill>
                  <a:srgbClr val="5B6B73"/>
                </a:solidFill>
                <a:latin typeface="Calibri" pitchFamily="34" charset="0"/>
                <a:ea typeface="Calibri" pitchFamily="34" charset="-122"/>
                <a:cs typeface="Calibri" pitchFamily="34" charset="-120"/>
              </a:rPr>
              <a:t>.</a:t>
            </a:r>
            <a:endParaRPr lang="en-US" sz="1450" dirty="0"/>
          </a:p>
        </p:txBody>
      </p:sp>
      <p:sp>
        <p:nvSpPr>
          <p:cNvPr id="5" name="Shape 3"/>
          <p:cNvSpPr/>
          <p:nvPr/>
        </p:nvSpPr>
        <p:spPr>
          <a:xfrm>
            <a:off x="548640" y="2514600"/>
            <a:ext cx="3429000" cy="2743200"/>
          </a:xfrm>
          <a:prstGeom prst="roundRect">
            <a:avLst>
              <a:gd name="adj" fmla="val 3333"/>
            </a:avLst>
          </a:prstGeom>
          <a:solidFill>
            <a:srgbClr val="EAF2F5"/>
          </a:solidFill>
          <a:ln/>
          <a:effectLst>
            <a:outerShdw blurRad="76200" dist="25400" dir="5400000" algn="bl" rotWithShape="0">
              <a:srgbClr val="000000">
                <a:alpha val="8000"/>
              </a:srgbClr>
            </a:outerShdw>
          </a:effectLst>
        </p:spPr>
      </p:sp>
      <p:sp>
        <p:nvSpPr>
          <p:cNvPr id="6" name="Shape 4"/>
          <p:cNvSpPr/>
          <p:nvPr/>
        </p:nvSpPr>
        <p:spPr>
          <a:xfrm>
            <a:off x="777240" y="2743200"/>
            <a:ext cx="594360" cy="594360"/>
          </a:xfrm>
          <a:prstGeom prst="ellipse">
            <a:avLst/>
          </a:prstGeom>
          <a:solidFill>
            <a:srgbClr val="FFFFFF"/>
          </a:solidFill>
          <a:ln/>
        </p:spPr>
      </p:sp>
      <p:pic>
        <p:nvPicPr>
          <p:cNvPr id="7" name="Image 0" descr="icons/layers_teal.png"/>
          <p:cNvPicPr>
            <a:picLocks noChangeAspect="1"/>
          </p:cNvPicPr>
          <p:nvPr/>
        </p:nvPicPr>
        <p:blipFill>
          <a:blip r:embed="rId3"/>
          <a:stretch>
            <a:fillRect/>
          </a:stretch>
        </p:blipFill>
        <p:spPr>
          <a:xfrm>
            <a:off x="923544" y="2889504"/>
            <a:ext cx="310896" cy="310896"/>
          </a:xfrm>
          <a:prstGeom prst="rect">
            <a:avLst/>
          </a:prstGeom>
        </p:spPr>
      </p:pic>
      <p:sp>
        <p:nvSpPr>
          <p:cNvPr id="8" name="Text 5"/>
          <p:cNvSpPr/>
          <p:nvPr/>
        </p:nvSpPr>
        <p:spPr>
          <a:xfrm>
            <a:off x="777240" y="3474720"/>
            <a:ext cx="2971800" cy="502920"/>
          </a:xfrm>
          <a:prstGeom prst="rect">
            <a:avLst/>
          </a:prstGeom>
          <a:noFill/>
          <a:ln/>
        </p:spPr>
        <p:txBody>
          <a:bodyPr wrap="square"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El núcleo AES-128</a:t>
            </a:r>
            <a:endParaRPr lang="en-US" sz="1600" dirty="0"/>
          </a:p>
        </p:txBody>
      </p:sp>
      <p:sp>
        <p:nvSpPr>
          <p:cNvPr id="9" name="Text 6"/>
          <p:cNvSpPr/>
          <p:nvPr/>
        </p:nvSpPr>
        <p:spPr>
          <a:xfrm>
            <a:off x="777240" y="3977640"/>
            <a:ext cx="2971800" cy="1143000"/>
          </a:xfrm>
          <a:prstGeom prst="rect">
            <a:avLst/>
          </a:prstGeom>
          <a:noFill/>
          <a:ln/>
        </p:spPr>
        <p:txBody>
          <a:bodyPr wrap="square" rtlCol="0" anchor="ctr"/>
          <a:lstStyle/>
          <a:p>
            <a:pPr marL="0" indent="0">
              <a:lnSpc>
                <a:spcPts val="1800"/>
              </a:lnSpc>
              <a:buNone/>
            </a:pPr>
            <a:r>
              <a:rPr lang="en-US" sz="1300" dirty="0">
                <a:solidFill>
                  <a:srgbClr val="1F2A33"/>
                </a:solidFill>
                <a:latin typeface="Calibri" pitchFamily="34" charset="0"/>
                <a:ea typeface="Calibri" pitchFamily="34" charset="-122"/>
                <a:cs typeface="Calibri" pitchFamily="34" charset="-120"/>
              </a:rPr>
              <a:t>Las 4 transformaciones y la expansión de claves, para cifrar un bloque de 16 bytes.</a:t>
            </a:r>
            <a:endParaRPr lang="en-US" sz="1300" dirty="0"/>
          </a:p>
        </p:txBody>
      </p:sp>
      <p:sp>
        <p:nvSpPr>
          <p:cNvPr id="10" name="Shape 7"/>
          <p:cNvSpPr/>
          <p:nvPr/>
        </p:nvSpPr>
        <p:spPr>
          <a:xfrm>
            <a:off x="4251960" y="2514600"/>
            <a:ext cx="3429000" cy="2743200"/>
          </a:xfrm>
          <a:prstGeom prst="roundRect">
            <a:avLst>
              <a:gd name="adj" fmla="val 3333"/>
            </a:avLst>
          </a:prstGeom>
          <a:solidFill>
            <a:srgbClr val="EAF2F5"/>
          </a:solidFill>
          <a:ln/>
          <a:effectLst>
            <a:outerShdw blurRad="76200" dist="25400" dir="5400000" algn="bl" rotWithShape="0">
              <a:srgbClr val="000000">
                <a:alpha val="8000"/>
              </a:srgbClr>
            </a:outerShdw>
          </a:effectLst>
        </p:spPr>
      </p:sp>
      <p:sp>
        <p:nvSpPr>
          <p:cNvPr id="11" name="Shape 8"/>
          <p:cNvSpPr/>
          <p:nvPr/>
        </p:nvSpPr>
        <p:spPr>
          <a:xfrm>
            <a:off x="4480560" y="2743200"/>
            <a:ext cx="594360" cy="594360"/>
          </a:xfrm>
          <a:prstGeom prst="ellipse">
            <a:avLst/>
          </a:prstGeom>
          <a:solidFill>
            <a:srgbClr val="FFFFFF"/>
          </a:solidFill>
          <a:ln/>
        </p:spPr>
      </p:sp>
      <p:pic>
        <p:nvPicPr>
          <p:cNvPr id="12" name="Image 1" descr="icons/exchange_teal.png"/>
          <p:cNvPicPr>
            <a:picLocks noChangeAspect="1"/>
          </p:cNvPicPr>
          <p:nvPr/>
        </p:nvPicPr>
        <p:blipFill>
          <a:blip r:embed="rId4"/>
          <a:stretch>
            <a:fillRect/>
          </a:stretch>
        </p:blipFill>
        <p:spPr>
          <a:xfrm>
            <a:off x="4626864" y="2889504"/>
            <a:ext cx="310896" cy="310896"/>
          </a:xfrm>
          <a:prstGeom prst="rect">
            <a:avLst/>
          </a:prstGeom>
        </p:spPr>
      </p:pic>
      <p:sp>
        <p:nvSpPr>
          <p:cNvPr id="13" name="Text 9"/>
          <p:cNvSpPr/>
          <p:nvPr/>
        </p:nvSpPr>
        <p:spPr>
          <a:xfrm>
            <a:off x="4480560" y="3474720"/>
            <a:ext cx="2971800" cy="502920"/>
          </a:xfrm>
          <a:prstGeom prst="rect">
            <a:avLst/>
          </a:prstGeom>
          <a:noFill/>
          <a:ln/>
        </p:spPr>
        <p:txBody>
          <a:bodyPr wrap="square"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Dos modos de uso</a:t>
            </a:r>
            <a:endParaRPr lang="en-US" sz="1600" dirty="0"/>
          </a:p>
        </p:txBody>
      </p:sp>
      <p:sp>
        <p:nvSpPr>
          <p:cNvPr id="14" name="Text 10"/>
          <p:cNvSpPr/>
          <p:nvPr/>
        </p:nvSpPr>
        <p:spPr>
          <a:xfrm>
            <a:off x="4480560" y="3977640"/>
            <a:ext cx="2971800" cy="1143000"/>
          </a:xfrm>
          <a:prstGeom prst="rect">
            <a:avLst/>
          </a:prstGeom>
          <a:noFill/>
          <a:ln/>
        </p:spPr>
        <p:txBody>
          <a:bodyPr wrap="square" rtlCol="0" anchor="ctr"/>
          <a:lstStyle/>
          <a:p>
            <a:pPr marL="0" indent="0">
              <a:lnSpc>
                <a:spcPts val="1800"/>
              </a:lnSpc>
              <a:buNone/>
            </a:pPr>
            <a:r>
              <a:rPr lang="en-US" sz="1300" dirty="0">
                <a:solidFill>
                  <a:srgbClr val="1F2A33"/>
                </a:solidFill>
                <a:latin typeface="Calibri" pitchFamily="34" charset="0"/>
                <a:ea typeface="Calibri" pitchFamily="34" charset="-122"/>
                <a:cs typeface="Calibri" pitchFamily="34" charset="-120"/>
              </a:rPr>
              <a:t>ECB y CBC, con relleno (padding) para mensajes de cualquier largo.</a:t>
            </a:r>
            <a:endParaRPr lang="en-US" sz="1300" dirty="0"/>
          </a:p>
        </p:txBody>
      </p:sp>
      <p:sp>
        <p:nvSpPr>
          <p:cNvPr id="15" name="Shape 11"/>
          <p:cNvSpPr/>
          <p:nvPr/>
        </p:nvSpPr>
        <p:spPr>
          <a:xfrm>
            <a:off x="7955280" y="2514600"/>
            <a:ext cx="3429000" cy="2743200"/>
          </a:xfrm>
          <a:prstGeom prst="roundRect">
            <a:avLst>
              <a:gd name="adj" fmla="val 3333"/>
            </a:avLst>
          </a:prstGeom>
          <a:solidFill>
            <a:srgbClr val="EAF2F5"/>
          </a:solidFill>
          <a:ln/>
          <a:effectLst>
            <a:outerShdw blurRad="76200" dist="25400" dir="5400000" algn="bl" rotWithShape="0">
              <a:srgbClr val="000000">
                <a:alpha val="8000"/>
              </a:srgbClr>
            </a:outerShdw>
          </a:effectLst>
        </p:spPr>
      </p:sp>
      <p:sp>
        <p:nvSpPr>
          <p:cNvPr id="16" name="Shape 12"/>
          <p:cNvSpPr/>
          <p:nvPr/>
        </p:nvSpPr>
        <p:spPr>
          <a:xfrm>
            <a:off x="8183880" y="2743200"/>
            <a:ext cx="594360" cy="594360"/>
          </a:xfrm>
          <a:prstGeom prst="ellipse">
            <a:avLst/>
          </a:prstGeom>
          <a:solidFill>
            <a:srgbClr val="FFFFFF"/>
          </a:solidFill>
          <a:ln/>
        </p:spPr>
      </p:sp>
      <p:pic>
        <p:nvPicPr>
          <p:cNvPr id="17" name="Image 2" descr="icons/image_teal.png"/>
          <p:cNvPicPr>
            <a:picLocks noChangeAspect="1"/>
          </p:cNvPicPr>
          <p:nvPr/>
        </p:nvPicPr>
        <p:blipFill>
          <a:blip r:embed="rId5"/>
          <a:stretch>
            <a:fillRect/>
          </a:stretch>
        </p:blipFill>
        <p:spPr>
          <a:xfrm>
            <a:off x="8330184" y="2889504"/>
            <a:ext cx="310896" cy="310896"/>
          </a:xfrm>
          <a:prstGeom prst="rect">
            <a:avLst/>
          </a:prstGeom>
        </p:spPr>
      </p:pic>
      <p:sp>
        <p:nvSpPr>
          <p:cNvPr id="18" name="Text 13"/>
          <p:cNvSpPr/>
          <p:nvPr/>
        </p:nvSpPr>
        <p:spPr>
          <a:xfrm>
            <a:off x="8183880" y="3474720"/>
            <a:ext cx="2971800" cy="502920"/>
          </a:xfrm>
          <a:prstGeom prst="rect">
            <a:avLst/>
          </a:prstGeom>
          <a:noFill/>
          <a:ln/>
        </p:spPr>
        <p:txBody>
          <a:bodyPr wrap="square"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Una herramienta real</a:t>
            </a:r>
            <a:endParaRPr lang="en-US" sz="1600" dirty="0"/>
          </a:p>
        </p:txBody>
      </p:sp>
      <p:sp>
        <p:nvSpPr>
          <p:cNvPr id="19" name="Text 14"/>
          <p:cNvSpPr/>
          <p:nvPr/>
        </p:nvSpPr>
        <p:spPr>
          <a:xfrm>
            <a:off x="8183880" y="3977640"/>
            <a:ext cx="2971800" cy="1143000"/>
          </a:xfrm>
          <a:prstGeom prst="rect">
            <a:avLst/>
          </a:prstGeom>
          <a:noFill/>
          <a:ln/>
        </p:spPr>
        <p:txBody>
          <a:bodyPr wrap="square" rtlCol="0" anchor="ctr"/>
          <a:lstStyle/>
          <a:p>
            <a:pPr marL="0" indent="0">
              <a:lnSpc>
                <a:spcPts val="1800"/>
              </a:lnSpc>
              <a:buNone/>
            </a:pPr>
            <a:r>
              <a:rPr lang="en-US" sz="1300" dirty="0">
                <a:solidFill>
                  <a:srgbClr val="1F2A33"/>
                </a:solidFill>
                <a:latin typeface="Calibri" pitchFamily="34" charset="0"/>
                <a:ea typeface="Calibri" pitchFamily="34" charset="-122"/>
                <a:cs typeface="Calibri" pitchFamily="34" charset="-120"/>
              </a:rPr>
              <a:t>Una interfaz de línea de comandos para cifrar archivos de texto e imágenes.</a:t>
            </a:r>
            <a:endParaRPr lang="en-US" sz="1300" dirty="0"/>
          </a:p>
        </p:txBody>
      </p:sp>
      <p:sp>
        <p:nvSpPr>
          <p:cNvPr id="20" name="Text 15"/>
          <p:cNvSpPr/>
          <p:nvPr/>
        </p:nvSpPr>
        <p:spPr>
          <a:xfrm>
            <a:off x="548640" y="5532120"/>
            <a:ext cx="10789920" cy="457200"/>
          </a:xfrm>
          <a:prstGeom prst="rect">
            <a:avLst/>
          </a:prstGeom>
          <a:noFill/>
          <a:ln/>
        </p:spPr>
        <p:txBody>
          <a:bodyPr wrap="square" rtlCol="0" anchor="ctr"/>
          <a:lstStyle/>
          <a:p>
            <a:pPr marL="0" indent="0">
              <a:buNone/>
            </a:pPr>
            <a:r>
              <a:rPr lang="en-US" sz="1300" i="1" dirty="0">
                <a:solidFill>
                  <a:srgbClr val="5B6B73"/>
                </a:solidFill>
                <a:latin typeface="Calibri" pitchFamily="34" charset="0"/>
                <a:ea typeface="Calibri" pitchFamily="34" charset="-122"/>
                <a:cs typeface="Calibri" pitchFamily="34" charset="-120"/>
              </a:rPr>
              <a:t>Como caso de estudio, usamos esa herramienta para cifrar una imagen y comparar visualmente los dos modos — lo vemos en la próxima diapositiva.</a:t>
            </a:r>
            <a:endParaRPr lang="en-US" sz="1300" dirty="0"/>
          </a:p>
        </p:txBody>
      </p:sp>
      <p:sp>
        <p:nvSpPr>
          <p:cNvPr id="21" name="Text 16"/>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MENSAJES MÁS LARGOS QUE UN BLOQUE</a:t>
            </a:r>
            <a:endParaRPr lang="en-US" sz="13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¿Qué pasa cuando el mensaje no entra en 16 bytes?</a:t>
            </a:r>
            <a:endParaRPr lang="en-US" sz="3000" dirty="0"/>
          </a:p>
        </p:txBody>
      </p:sp>
      <p:sp>
        <p:nvSpPr>
          <p:cNvPr id="4" name="Text 2"/>
          <p:cNvSpPr/>
          <p:nvPr/>
        </p:nvSpPr>
        <p:spPr>
          <a:xfrm>
            <a:off x="548640" y="1783080"/>
            <a:ext cx="10789920" cy="548640"/>
          </a:xfrm>
          <a:prstGeom prst="rect">
            <a:avLst/>
          </a:prstGeom>
          <a:noFill/>
          <a:ln/>
        </p:spPr>
        <p:txBody>
          <a:bodyPr wrap="square" rtlCol="0" anchor="ctr"/>
          <a:lstStyle/>
          <a:p>
            <a:pPr marL="0" indent="0">
              <a:buNone/>
            </a:pPr>
            <a:r>
              <a:rPr lang="en-US" sz="1550" dirty="0">
                <a:solidFill>
                  <a:srgbClr val="1F2A33"/>
                </a:solidFill>
                <a:latin typeface="Calibri" pitchFamily="34" charset="0"/>
                <a:ea typeface="Calibri" pitchFamily="34" charset="-122"/>
                <a:cs typeface="Calibri" pitchFamily="34" charset="-120"/>
              </a:rPr>
              <a:t>AES solo sabe cifrar bloques de exactamente 16 bytes. Para mensajes más largos (o más cortos) hacen falta dos trucos:</a:t>
            </a:r>
            <a:endParaRPr lang="en-US" sz="1550" dirty="0"/>
          </a:p>
        </p:txBody>
      </p:sp>
      <p:sp>
        <p:nvSpPr>
          <p:cNvPr id="5" name="Shape 3"/>
          <p:cNvSpPr/>
          <p:nvPr/>
        </p:nvSpPr>
        <p:spPr>
          <a:xfrm>
            <a:off x="548640" y="2514600"/>
            <a:ext cx="5212080" cy="3200400"/>
          </a:xfrm>
          <a:prstGeom prst="roundRect">
            <a:avLst>
              <a:gd name="adj" fmla="val 2857"/>
            </a:avLst>
          </a:prstGeom>
          <a:solidFill>
            <a:srgbClr val="EAF2F5"/>
          </a:solidFill>
          <a:ln/>
        </p:spPr>
      </p:sp>
      <p:sp>
        <p:nvSpPr>
          <p:cNvPr id="6" name="Text 4"/>
          <p:cNvSpPr/>
          <p:nvPr/>
        </p:nvSpPr>
        <p:spPr>
          <a:xfrm>
            <a:off x="822960" y="2697480"/>
            <a:ext cx="4663440" cy="411480"/>
          </a:xfrm>
          <a:prstGeom prst="rect">
            <a:avLst/>
          </a:prstGeom>
          <a:noFill/>
          <a:ln/>
        </p:spPr>
        <p:txBody>
          <a:bodyPr wrap="square"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1. Relleno (padding)</a:t>
            </a:r>
            <a:endParaRPr lang="en-US" sz="1600" dirty="0"/>
          </a:p>
        </p:txBody>
      </p:sp>
      <p:sp>
        <p:nvSpPr>
          <p:cNvPr id="7" name="Text 5"/>
          <p:cNvSpPr/>
          <p:nvPr/>
        </p:nvSpPr>
        <p:spPr>
          <a:xfrm>
            <a:off x="822960" y="3154680"/>
            <a:ext cx="4663440" cy="1463040"/>
          </a:xfrm>
          <a:prstGeom prst="rect">
            <a:avLst/>
          </a:prstGeom>
          <a:noFill/>
          <a:ln/>
        </p:spPr>
        <p:txBody>
          <a:bodyPr wrap="square" rtlCol="0" anchor="ctr"/>
          <a:lstStyle/>
          <a:p>
            <a:pPr marL="0" indent="0">
              <a:lnSpc>
                <a:spcPts val="1900"/>
              </a:lnSpc>
              <a:buNone/>
            </a:pPr>
            <a:r>
              <a:rPr lang="en-US" sz="1350" dirty="0">
                <a:solidFill>
                  <a:srgbClr val="1F2A33"/>
                </a:solidFill>
                <a:latin typeface="Calibri" pitchFamily="34" charset="0"/>
                <a:ea typeface="Calibri" pitchFamily="34" charset="-122"/>
                <a:cs typeface="Calibri" pitchFamily="34" charset="-120"/>
              </a:rPr>
              <a:t>Si el mensaje no es múltiplo de 16 bytes, se le agregan bytes extra al final hasta completar </a:t>
            </a:r>
            <a:r>
              <a:rPr lang="en-US" sz="1350" dirty="0" err="1">
                <a:solidFill>
                  <a:srgbClr val="1F2A33"/>
                </a:solidFill>
                <a:latin typeface="Calibri" pitchFamily="34" charset="0"/>
                <a:ea typeface="Calibri" pitchFamily="34" charset="-122"/>
                <a:cs typeface="Calibri" pitchFamily="34" charset="-120"/>
              </a:rPr>
              <a:t>el</a:t>
            </a:r>
            <a:r>
              <a:rPr lang="en-US" sz="1350" dirty="0">
                <a:solidFill>
                  <a:srgbClr val="1F2A33"/>
                </a:solidFill>
                <a:latin typeface="Calibri" pitchFamily="34" charset="0"/>
                <a:ea typeface="Calibri" pitchFamily="34" charset="-122"/>
                <a:cs typeface="Calibri" pitchFamily="34" charset="-120"/>
              </a:rPr>
              <a:t> Bloque.</a:t>
            </a:r>
            <a:endParaRPr lang="en-US" sz="1350" dirty="0"/>
          </a:p>
        </p:txBody>
      </p:sp>
      <p:sp>
        <p:nvSpPr>
          <p:cNvPr id="8" name="Text 6"/>
          <p:cNvSpPr/>
          <p:nvPr/>
        </p:nvSpPr>
        <p:spPr>
          <a:xfrm>
            <a:off x="822960" y="4709160"/>
            <a:ext cx="4663440" cy="365760"/>
          </a:xfrm>
          <a:prstGeom prst="rect">
            <a:avLst/>
          </a:prstGeom>
          <a:noFill/>
          <a:ln/>
        </p:spPr>
        <p:txBody>
          <a:bodyPr wrap="square" rtlCol="0" anchor="ctr"/>
          <a:lstStyle/>
          <a:p>
            <a:pPr marL="0" indent="0">
              <a:buNone/>
            </a:pPr>
            <a:r>
              <a:rPr lang="en-US" sz="1200" dirty="0">
                <a:solidFill>
                  <a:srgbClr val="1C7293"/>
                </a:solidFill>
                <a:latin typeface="Courier New" pitchFamily="34" charset="0"/>
                <a:ea typeface="Courier New" pitchFamily="34" charset="-122"/>
                <a:cs typeface="Courier New" pitchFamily="34" charset="-120"/>
              </a:rPr>
              <a:t>Mensaje de 13 bytes  →  se completa a 16</a:t>
            </a:r>
            <a:endParaRPr lang="en-US" sz="1200" dirty="0"/>
          </a:p>
        </p:txBody>
      </p:sp>
      <p:sp>
        <p:nvSpPr>
          <p:cNvPr id="9" name="Shape 7"/>
          <p:cNvSpPr/>
          <p:nvPr/>
        </p:nvSpPr>
        <p:spPr>
          <a:xfrm>
            <a:off x="5943600" y="2514600"/>
            <a:ext cx="5715000" cy="3200400"/>
          </a:xfrm>
          <a:prstGeom prst="roundRect">
            <a:avLst>
              <a:gd name="adj" fmla="val 2857"/>
            </a:avLst>
          </a:prstGeom>
          <a:solidFill>
            <a:srgbClr val="EAF2F5"/>
          </a:solidFill>
          <a:ln/>
        </p:spPr>
      </p:sp>
      <p:sp>
        <p:nvSpPr>
          <p:cNvPr id="10" name="Text 8"/>
          <p:cNvSpPr/>
          <p:nvPr/>
        </p:nvSpPr>
        <p:spPr>
          <a:xfrm>
            <a:off x="6217920" y="2697480"/>
            <a:ext cx="5120640" cy="411480"/>
          </a:xfrm>
          <a:prstGeom prst="rect">
            <a:avLst/>
          </a:prstGeom>
          <a:noFill/>
          <a:ln/>
        </p:spPr>
        <p:txBody>
          <a:bodyPr wrap="square"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2. Modo de operación</a:t>
            </a:r>
            <a:endParaRPr lang="en-US" sz="1600" dirty="0"/>
          </a:p>
        </p:txBody>
      </p:sp>
      <p:sp>
        <p:nvSpPr>
          <p:cNvPr id="11" name="Text 9"/>
          <p:cNvSpPr/>
          <p:nvPr/>
        </p:nvSpPr>
        <p:spPr>
          <a:xfrm>
            <a:off x="6217920" y="3154680"/>
            <a:ext cx="5120640" cy="2377440"/>
          </a:xfrm>
          <a:prstGeom prst="rect">
            <a:avLst/>
          </a:prstGeom>
          <a:noFill/>
          <a:ln/>
        </p:spPr>
        <p:txBody>
          <a:bodyPr wrap="square" rtlCol="0" anchor="ctr"/>
          <a:lstStyle/>
          <a:p>
            <a:pPr marL="0" indent="0">
              <a:lnSpc>
                <a:spcPts val="1900"/>
              </a:lnSpc>
              <a:buNone/>
            </a:pPr>
            <a:r>
              <a:rPr lang="en-US" sz="1350" dirty="0">
                <a:solidFill>
                  <a:srgbClr val="1F2A33"/>
                </a:solidFill>
                <a:latin typeface="Calibri" pitchFamily="34" charset="0"/>
                <a:ea typeface="Calibri" pitchFamily="34" charset="-122"/>
                <a:cs typeface="Calibri" pitchFamily="34" charset="-120"/>
              </a:rPr>
              <a:t>Define cómo se relacionan entre sí los bloques una vez separados. ¿Cada bloque se cifra de forma totalmente independiente, o cada uno depende del anterior? Esa decisión cambia por completo qué tan seguro es el resultado.</a:t>
            </a:r>
            <a:endParaRPr lang="en-US" sz="1350" dirty="0"/>
          </a:p>
        </p:txBody>
      </p:sp>
      <p:sp>
        <p:nvSpPr>
          <p:cNvPr id="12" name="Text 10"/>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DOS FORMAS DE ENCADENAR LOS BLOQUES</a:t>
            </a:r>
            <a:endParaRPr lang="en-US" sz="13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ECB vs. CBC</a:t>
            </a:r>
            <a:endParaRPr lang="en-US" sz="3000" dirty="0"/>
          </a:p>
        </p:txBody>
      </p:sp>
      <p:sp>
        <p:nvSpPr>
          <p:cNvPr id="4" name="Shape 2"/>
          <p:cNvSpPr/>
          <p:nvPr/>
        </p:nvSpPr>
        <p:spPr>
          <a:xfrm>
            <a:off x="548640" y="2039752"/>
            <a:ext cx="5120640" cy="3108960"/>
          </a:xfrm>
          <a:prstGeom prst="roundRect">
            <a:avLst>
              <a:gd name="adj" fmla="val 2128"/>
            </a:avLst>
          </a:prstGeom>
          <a:solidFill>
            <a:srgbClr val="EAF2F5"/>
          </a:solidFill>
          <a:ln/>
        </p:spPr>
      </p:sp>
      <p:sp>
        <p:nvSpPr>
          <p:cNvPr id="5" name="Text 3"/>
          <p:cNvSpPr/>
          <p:nvPr/>
        </p:nvSpPr>
        <p:spPr>
          <a:xfrm>
            <a:off x="822960" y="2268352"/>
            <a:ext cx="2743200" cy="457200"/>
          </a:xfrm>
          <a:prstGeom prst="rect">
            <a:avLst/>
          </a:prstGeom>
          <a:noFill/>
          <a:ln/>
        </p:spPr>
        <p:txBody>
          <a:bodyPr wrap="square" rtlCol="0" anchor="ctr"/>
          <a:lstStyle/>
          <a:p>
            <a:pPr marL="0" indent="0">
              <a:buNone/>
            </a:pPr>
            <a:r>
              <a:rPr lang="en-US" sz="2200" b="1" dirty="0">
                <a:solidFill>
                  <a:srgbClr val="21295C"/>
                </a:solidFill>
                <a:latin typeface="Cambria" pitchFamily="34" charset="0"/>
                <a:ea typeface="Cambria" pitchFamily="34" charset="-122"/>
                <a:cs typeface="Cambria" pitchFamily="34" charset="-120"/>
              </a:rPr>
              <a:t>ECB</a:t>
            </a:r>
            <a:endParaRPr lang="en-US" sz="2200" dirty="0"/>
          </a:p>
        </p:txBody>
      </p:sp>
      <p:sp>
        <p:nvSpPr>
          <p:cNvPr id="6" name="Text 4"/>
          <p:cNvSpPr/>
          <p:nvPr/>
        </p:nvSpPr>
        <p:spPr>
          <a:xfrm>
            <a:off x="822960" y="2725552"/>
            <a:ext cx="3657600" cy="320040"/>
          </a:xfrm>
          <a:prstGeom prst="rect">
            <a:avLst/>
          </a:prstGeom>
          <a:noFill/>
          <a:ln/>
        </p:spPr>
        <p:txBody>
          <a:bodyPr wrap="square" rtlCol="0" anchor="ctr"/>
          <a:lstStyle/>
          <a:p>
            <a:pPr marL="0" indent="0">
              <a:buNone/>
            </a:pPr>
            <a:r>
              <a:rPr lang="en-US" sz="1200" i="1" dirty="0">
                <a:solidFill>
                  <a:srgbClr val="5B6B73"/>
                </a:solidFill>
                <a:latin typeface="Calibri" pitchFamily="34" charset="0"/>
                <a:ea typeface="Calibri" pitchFamily="34" charset="-122"/>
                <a:cs typeface="Calibri" pitchFamily="34" charset="-120"/>
              </a:rPr>
              <a:t>Electronic Codebook</a:t>
            </a:r>
            <a:endParaRPr lang="en-US" sz="1200" dirty="0"/>
          </a:p>
        </p:txBody>
      </p:sp>
      <p:sp>
        <p:nvSpPr>
          <p:cNvPr id="7" name="Text 5"/>
          <p:cNvSpPr/>
          <p:nvPr/>
        </p:nvSpPr>
        <p:spPr>
          <a:xfrm>
            <a:off x="822960" y="3137032"/>
            <a:ext cx="4572000" cy="640080"/>
          </a:xfrm>
          <a:prstGeom prst="rect">
            <a:avLst/>
          </a:prstGeom>
          <a:noFill/>
          <a:ln/>
        </p:spPr>
        <p:txBody>
          <a:bodyPr wrap="square" rtlCol="0" anchor="ctr"/>
          <a:lstStyle/>
          <a:p>
            <a:pPr marL="0" indent="0">
              <a:lnSpc>
                <a:spcPts val="1900"/>
              </a:lnSpc>
              <a:buNone/>
            </a:pPr>
            <a:r>
              <a:rPr lang="en-US" sz="1400" dirty="0">
                <a:solidFill>
                  <a:srgbClr val="1F2A33"/>
                </a:solidFill>
                <a:latin typeface="Calibri" pitchFamily="34" charset="0"/>
                <a:ea typeface="Calibri" pitchFamily="34" charset="-122"/>
                <a:cs typeface="Calibri" pitchFamily="34" charset="-120"/>
              </a:rPr>
              <a:t>Cada bloque se cifra solo, de forma independiente.</a:t>
            </a:r>
            <a:endParaRPr lang="en-US" sz="1400" dirty="0"/>
          </a:p>
        </p:txBody>
      </p:sp>
      <p:pic>
        <p:nvPicPr>
          <p:cNvPr id="8" name="Image 0" descr="icons/unlock_red.png"/>
          <p:cNvPicPr>
            <a:picLocks noChangeAspect="1"/>
          </p:cNvPicPr>
          <p:nvPr/>
        </p:nvPicPr>
        <p:blipFill>
          <a:blip r:embed="rId3"/>
          <a:stretch>
            <a:fillRect/>
          </a:stretch>
        </p:blipFill>
        <p:spPr>
          <a:xfrm>
            <a:off x="822960" y="3868552"/>
            <a:ext cx="320040" cy="320040"/>
          </a:xfrm>
          <a:prstGeom prst="rect">
            <a:avLst/>
          </a:prstGeom>
        </p:spPr>
      </p:pic>
      <p:sp>
        <p:nvSpPr>
          <p:cNvPr id="9" name="Text 6"/>
          <p:cNvSpPr/>
          <p:nvPr/>
        </p:nvSpPr>
        <p:spPr>
          <a:xfrm>
            <a:off x="1280160" y="3822832"/>
            <a:ext cx="4114800" cy="1005840"/>
          </a:xfrm>
          <a:prstGeom prst="rect">
            <a:avLst/>
          </a:prstGeom>
          <a:noFill/>
          <a:ln/>
        </p:spPr>
        <p:txBody>
          <a:bodyPr wrap="square" rtlCol="0" anchor="ctr"/>
          <a:lstStyle/>
          <a:p>
            <a:pPr marL="0" indent="0">
              <a:lnSpc>
                <a:spcPts val="1800"/>
              </a:lnSpc>
              <a:buNone/>
            </a:pPr>
            <a:r>
              <a:rPr lang="en-US" sz="1300" dirty="0">
                <a:solidFill>
                  <a:srgbClr val="B0413E"/>
                </a:solidFill>
                <a:latin typeface="Calibri" pitchFamily="34" charset="0"/>
                <a:ea typeface="Calibri" pitchFamily="34" charset="-122"/>
                <a:cs typeface="Calibri" pitchFamily="34" charset="-120"/>
              </a:rPr>
              <a:t>Problema: dos bloques de mensaje iguales producen el mismo resultado cifrado. Eso deja ver patrones del original.</a:t>
            </a:r>
            <a:endParaRPr lang="en-US" sz="1300" dirty="0"/>
          </a:p>
        </p:txBody>
      </p:sp>
      <p:sp>
        <p:nvSpPr>
          <p:cNvPr id="11" name="Shape 8"/>
          <p:cNvSpPr/>
          <p:nvPr/>
        </p:nvSpPr>
        <p:spPr>
          <a:xfrm>
            <a:off x="6217920" y="2039752"/>
            <a:ext cx="5120640" cy="3108960"/>
          </a:xfrm>
          <a:prstGeom prst="roundRect">
            <a:avLst>
              <a:gd name="adj" fmla="val 2128"/>
            </a:avLst>
          </a:prstGeom>
          <a:solidFill>
            <a:srgbClr val="21295C"/>
          </a:solidFill>
          <a:ln/>
        </p:spPr>
      </p:sp>
      <p:sp>
        <p:nvSpPr>
          <p:cNvPr id="12" name="Text 9"/>
          <p:cNvSpPr/>
          <p:nvPr/>
        </p:nvSpPr>
        <p:spPr>
          <a:xfrm>
            <a:off x="6492240" y="2268352"/>
            <a:ext cx="2743200" cy="4572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CBC</a:t>
            </a:r>
            <a:endParaRPr lang="en-US" sz="2200" dirty="0"/>
          </a:p>
        </p:txBody>
      </p:sp>
      <p:sp>
        <p:nvSpPr>
          <p:cNvPr id="13" name="Text 10"/>
          <p:cNvSpPr/>
          <p:nvPr/>
        </p:nvSpPr>
        <p:spPr>
          <a:xfrm>
            <a:off x="6492240" y="2725552"/>
            <a:ext cx="3657600" cy="320040"/>
          </a:xfrm>
          <a:prstGeom prst="rect">
            <a:avLst/>
          </a:prstGeom>
          <a:noFill/>
          <a:ln/>
        </p:spPr>
        <p:txBody>
          <a:bodyPr wrap="square" rtlCol="0" anchor="ctr"/>
          <a:lstStyle/>
          <a:p>
            <a:pPr marL="0" indent="0">
              <a:buNone/>
            </a:pPr>
            <a:r>
              <a:rPr lang="en-US" sz="1200" i="1" dirty="0">
                <a:solidFill>
                  <a:srgbClr val="8FCDE0"/>
                </a:solidFill>
                <a:latin typeface="Calibri" pitchFamily="34" charset="0"/>
                <a:ea typeface="Calibri" pitchFamily="34" charset="-122"/>
                <a:cs typeface="Calibri" pitchFamily="34" charset="-120"/>
              </a:rPr>
              <a:t>Cipher Block Chaining</a:t>
            </a:r>
            <a:endParaRPr lang="en-US" sz="1200" dirty="0"/>
          </a:p>
        </p:txBody>
      </p:sp>
      <p:sp>
        <p:nvSpPr>
          <p:cNvPr id="14" name="Text 11"/>
          <p:cNvSpPr/>
          <p:nvPr/>
        </p:nvSpPr>
        <p:spPr>
          <a:xfrm>
            <a:off x="6492240" y="3137032"/>
            <a:ext cx="4572000" cy="777240"/>
          </a:xfrm>
          <a:prstGeom prst="rect">
            <a:avLst/>
          </a:prstGeom>
          <a:noFill/>
          <a:ln/>
        </p:spPr>
        <p:txBody>
          <a:bodyPr wrap="square" rtlCol="0" anchor="ctr"/>
          <a:lstStyle/>
          <a:p>
            <a:pPr marL="0" indent="0">
              <a:lnSpc>
                <a:spcPts val="1900"/>
              </a:lnSpc>
              <a:buNone/>
            </a:pPr>
            <a:r>
              <a:rPr lang="en-US" sz="1400" dirty="0">
                <a:solidFill>
                  <a:srgbClr val="FFFFFF"/>
                </a:solidFill>
                <a:latin typeface="Calibri" pitchFamily="34" charset="0"/>
                <a:ea typeface="Calibri" pitchFamily="34" charset="-122"/>
                <a:cs typeface="Calibri" pitchFamily="34" charset="-120"/>
              </a:rPr>
              <a:t>Cada bloque se combina primero con el resultado cifrado del bloque anterior.</a:t>
            </a:r>
            <a:endParaRPr lang="en-US" sz="1400" dirty="0"/>
          </a:p>
        </p:txBody>
      </p:sp>
      <p:pic>
        <p:nvPicPr>
          <p:cNvPr id="15" name="Image 1" descr="icons/check_teal.png"/>
          <p:cNvPicPr>
            <a:picLocks noChangeAspect="1"/>
          </p:cNvPicPr>
          <p:nvPr/>
        </p:nvPicPr>
        <p:blipFill>
          <a:blip r:embed="rId4"/>
          <a:stretch>
            <a:fillRect/>
          </a:stretch>
        </p:blipFill>
        <p:spPr>
          <a:xfrm>
            <a:off x="6492240" y="4005712"/>
            <a:ext cx="320040" cy="320040"/>
          </a:xfrm>
          <a:prstGeom prst="rect">
            <a:avLst/>
          </a:prstGeom>
        </p:spPr>
      </p:pic>
      <p:sp>
        <p:nvSpPr>
          <p:cNvPr id="16" name="Text 12"/>
          <p:cNvSpPr/>
          <p:nvPr/>
        </p:nvSpPr>
        <p:spPr>
          <a:xfrm>
            <a:off x="6949440" y="3959992"/>
            <a:ext cx="4114800" cy="914400"/>
          </a:xfrm>
          <a:prstGeom prst="rect">
            <a:avLst/>
          </a:prstGeom>
          <a:noFill/>
          <a:ln/>
        </p:spPr>
        <p:txBody>
          <a:bodyPr wrap="square" rtlCol="0" anchor="ctr"/>
          <a:lstStyle/>
          <a:p>
            <a:pPr marL="0" indent="0">
              <a:lnSpc>
                <a:spcPts val="1800"/>
              </a:lnSpc>
              <a:buNone/>
            </a:pPr>
            <a:r>
              <a:rPr lang="en-US" sz="1300" dirty="0">
                <a:solidFill>
                  <a:srgbClr val="8FCDE0"/>
                </a:solidFill>
                <a:latin typeface="Calibri" pitchFamily="34" charset="0"/>
                <a:ea typeface="Calibri" pitchFamily="34" charset="-122"/>
                <a:cs typeface="Calibri" pitchFamily="34" charset="-120"/>
              </a:rPr>
              <a:t>Ventaja: aunque el mensaje tenga partes repetidas, cada resultado cifrado es distinto.</a:t>
            </a:r>
            <a:endParaRPr lang="en-US" sz="1300" dirty="0"/>
          </a:p>
        </p:txBody>
      </p:sp>
      <p:sp>
        <p:nvSpPr>
          <p:cNvPr id="18" name="Text 14"/>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VIÉNDOLO CON LOS PROPIOS OJOS</a:t>
            </a:r>
            <a:endParaRPr lang="en-US" sz="13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La misma imagen, dos resultados muy distintos</a:t>
            </a:r>
            <a:endParaRPr lang="en-US" sz="3000" dirty="0"/>
          </a:p>
        </p:txBody>
      </p:sp>
      <p:sp>
        <p:nvSpPr>
          <p:cNvPr id="4" name="Text 2"/>
          <p:cNvSpPr/>
          <p:nvPr/>
        </p:nvSpPr>
        <p:spPr>
          <a:xfrm>
            <a:off x="548640" y="1691640"/>
            <a:ext cx="10789920" cy="411480"/>
          </a:xfrm>
          <a:prstGeom prst="rect">
            <a:avLst/>
          </a:prstGeom>
          <a:noFill/>
          <a:ln/>
        </p:spPr>
        <p:txBody>
          <a:bodyPr wrap="square" rtlCol="0" anchor="ctr"/>
          <a:lstStyle/>
          <a:p>
            <a:pPr marL="0" indent="0">
              <a:buNone/>
            </a:pPr>
            <a:r>
              <a:rPr lang="en-US" sz="1450" dirty="0">
                <a:solidFill>
                  <a:srgbClr val="5B6B73"/>
                </a:solidFill>
                <a:latin typeface="Calibri" pitchFamily="34" charset="0"/>
                <a:ea typeface="Calibri" pitchFamily="34" charset="-122"/>
                <a:cs typeface="Calibri" pitchFamily="34" charset="-120"/>
              </a:rPr>
              <a:t>Tomamos una imagen con bloques de color repetidos y la ciframos con ambos </a:t>
            </a:r>
            <a:r>
              <a:rPr lang="en-US" sz="1450" dirty="0" err="1">
                <a:solidFill>
                  <a:srgbClr val="5B6B73"/>
                </a:solidFill>
                <a:latin typeface="Calibri" pitchFamily="34" charset="0"/>
                <a:ea typeface="Calibri" pitchFamily="34" charset="-122"/>
                <a:cs typeface="Calibri" pitchFamily="34" charset="-120"/>
              </a:rPr>
              <a:t>modos</a:t>
            </a:r>
            <a:r>
              <a:rPr lang="en-US" sz="1450" dirty="0">
                <a:solidFill>
                  <a:srgbClr val="5B6B73"/>
                </a:solidFill>
                <a:latin typeface="Calibri" pitchFamily="34" charset="0"/>
                <a:ea typeface="Calibri" pitchFamily="34" charset="-122"/>
                <a:cs typeface="Calibri" pitchFamily="34" charset="-120"/>
              </a:rPr>
              <a:t>.</a:t>
            </a:r>
            <a:endParaRPr lang="en-US" sz="1450" dirty="0"/>
          </a:p>
        </p:txBody>
      </p:sp>
      <p:sp>
        <p:nvSpPr>
          <p:cNvPr id="5" name="Shape 3"/>
          <p:cNvSpPr/>
          <p:nvPr/>
        </p:nvSpPr>
        <p:spPr>
          <a:xfrm>
            <a:off x="2020824" y="2258568"/>
            <a:ext cx="2478024" cy="2478024"/>
          </a:xfrm>
          <a:prstGeom prst="roundRect">
            <a:avLst>
              <a:gd name="adj" fmla="val 2214"/>
            </a:avLst>
          </a:prstGeom>
          <a:solidFill>
            <a:srgbClr val="FFFFFF"/>
          </a:solidFill>
          <a:ln w="12700">
            <a:solidFill>
              <a:srgbClr val="D8E2E6"/>
            </a:solidFill>
            <a:prstDash val="solid"/>
          </a:ln>
          <a:effectLst>
            <a:outerShdw blurRad="76200" dist="25400" dir="5400000" algn="bl" rotWithShape="0">
              <a:srgbClr val="000000">
                <a:alpha val="10000"/>
              </a:srgbClr>
            </a:outerShdw>
          </a:effectLst>
        </p:spPr>
      </p:sp>
      <p:pic>
        <p:nvPicPr>
          <p:cNvPr id="6" name="Image 0" descr="img/original.png"/>
          <p:cNvPicPr>
            <a:picLocks noChangeAspect="1"/>
          </p:cNvPicPr>
          <p:nvPr/>
        </p:nvPicPr>
        <p:blipFill>
          <a:blip r:embed="rId3"/>
          <a:stretch>
            <a:fillRect/>
          </a:stretch>
        </p:blipFill>
        <p:spPr>
          <a:xfrm>
            <a:off x="2093976" y="2331720"/>
            <a:ext cx="2331720" cy="2331720"/>
          </a:xfrm>
          <a:prstGeom prst="rect">
            <a:avLst/>
          </a:prstGeom>
        </p:spPr>
      </p:pic>
      <p:sp>
        <p:nvSpPr>
          <p:cNvPr id="7" name="Text 4"/>
          <p:cNvSpPr/>
          <p:nvPr/>
        </p:nvSpPr>
        <p:spPr>
          <a:xfrm>
            <a:off x="2002536" y="4828032"/>
            <a:ext cx="2514600" cy="320040"/>
          </a:xfrm>
          <a:prstGeom prst="rect">
            <a:avLst/>
          </a:prstGeom>
          <a:noFill/>
          <a:ln/>
        </p:spPr>
        <p:txBody>
          <a:bodyPr wrap="square" rtlCol="0" anchor="ctr"/>
          <a:lstStyle/>
          <a:p>
            <a:pPr marL="0" indent="0" algn="ctr">
              <a:buNone/>
            </a:pPr>
            <a:r>
              <a:rPr lang="en-US" sz="1400" b="1" dirty="0">
                <a:solidFill>
                  <a:srgbClr val="21295C"/>
                </a:solidFill>
                <a:latin typeface="Calibri" pitchFamily="34" charset="0"/>
                <a:ea typeface="Calibri" pitchFamily="34" charset="-122"/>
                <a:cs typeface="Calibri" pitchFamily="34" charset="-120"/>
              </a:rPr>
              <a:t>Imagen original</a:t>
            </a:r>
            <a:endParaRPr lang="en-US" sz="1400" dirty="0"/>
          </a:p>
        </p:txBody>
      </p:sp>
      <p:sp>
        <p:nvSpPr>
          <p:cNvPr id="8" name="Text 5"/>
          <p:cNvSpPr/>
          <p:nvPr/>
        </p:nvSpPr>
        <p:spPr>
          <a:xfrm>
            <a:off x="2002536" y="5120640"/>
            <a:ext cx="2514600" cy="502920"/>
          </a:xfrm>
          <a:prstGeom prst="rect">
            <a:avLst/>
          </a:prstGeom>
          <a:noFill/>
          <a:ln/>
        </p:spPr>
        <p:txBody>
          <a:bodyPr wrap="square" rtlCol="0" anchor="ctr"/>
          <a:lstStyle/>
          <a:p>
            <a:pPr marL="0" indent="0" algn="ctr">
              <a:lnSpc>
                <a:spcPts val="1400"/>
              </a:lnSpc>
              <a:buNone/>
            </a:pPr>
            <a:r>
              <a:rPr lang="en-US" sz="1150" dirty="0">
                <a:solidFill>
                  <a:srgbClr val="5B6B73"/>
                </a:solidFill>
                <a:latin typeface="Calibri" pitchFamily="34" charset="0"/>
                <a:ea typeface="Calibri" pitchFamily="34" charset="-122"/>
                <a:cs typeface="Calibri" pitchFamily="34" charset="-120"/>
              </a:rPr>
              <a:t>Bloques de color repetidos</a:t>
            </a:r>
            <a:endParaRPr lang="en-US" sz="1150" dirty="0"/>
          </a:p>
        </p:txBody>
      </p:sp>
      <p:sp>
        <p:nvSpPr>
          <p:cNvPr id="9" name="Shape 6"/>
          <p:cNvSpPr/>
          <p:nvPr/>
        </p:nvSpPr>
        <p:spPr>
          <a:xfrm>
            <a:off x="4855464" y="2258568"/>
            <a:ext cx="2478024" cy="2478024"/>
          </a:xfrm>
          <a:prstGeom prst="roundRect">
            <a:avLst>
              <a:gd name="adj" fmla="val 2214"/>
            </a:avLst>
          </a:prstGeom>
          <a:solidFill>
            <a:srgbClr val="FFFFFF"/>
          </a:solidFill>
          <a:ln w="12700">
            <a:solidFill>
              <a:srgbClr val="D8E2E6"/>
            </a:solidFill>
            <a:prstDash val="solid"/>
          </a:ln>
          <a:effectLst>
            <a:outerShdw blurRad="76200" dist="25400" dir="5400000" algn="bl" rotWithShape="0">
              <a:srgbClr val="000000">
                <a:alpha val="10000"/>
              </a:srgbClr>
            </a:outerShdw>
          </a:effectLst>
        </p:spPr>
      </p:sp>
      <p:pic>
        <p:nvPicPr>
          <p:cNvPr id="10" name="Image 1" descr="img/ecb.png"/>
          <p:cNvPicPr>
            <a:picLocks noChangeAspect="1"/>
          </p:cNvPicPr>
          <p:nvPr/>
        </p:nvPicPr>
        <p:blipFill>
          <a:blip r:embed="rId4"/>
          <a:stretch>
            <a:fillRect/>
          </a:stretch>
        </p:blipFill>
        <p:spPr>
          <a:xfrm>
            <a:off x="4928616" y="2331720"/>
            <a:ext cx="2331720" cy="2331720"/>
          </a:xfrm>
          <a:prstGeom prst="rect">
            <a:avLst/>
          </a:prstGeom>
        </p:spPr>
      </p:pic>
      <p:sp>
        <p:nvSpPr>
          <p:cNvPr id="11" name="Text 7"/>
          <p:cNvSpPr/>
          <p:nvPr/>
        </p:nvSpPr>
        <p:spPr>
          <a:xfrm>
            <a:off x="4837176" y="4828032"/>
            <a:ext cx="2514600" cy="320040"/>
          </a:xfrm>
          <a:prstGeom prst="rect">
            <a:avLst/>
          </a:prstGeom>
          <a:noFill/>
          <a:ln/>
        </p:spPr>
        <p:txBody>
          <a:bodyPr wrap="square" rtlCol="0" anchor="ctr"/>
          <a:lstStyle/>
          <a:p>
            <a:pPr marL="0" indent="0" algn="ctr">
              <a:buNone/>
            </a:pPr>
            <a:r>
              <a:rPr lang="en-US" sz="1400" b="1" dirty="0">
                <a:solidFill>
                  <a:srgbClr val="21295C"/>
                </a:solidFill>
                <a:latin typeface="Calibri" pitchFamily="34" charset="0"/>
                <a:ea typeface="Calibri" pitchFamily="34" charset="-122"/>
                <a:cs typeface="Calibri" pitchFamily="34" charset="-120"/>
              </a:rPr>
              <a:t>Cifrada con ECB</a:t>
            </a:r>
            <a:endParaRPr lang="en-US" sz="1400" dirty="0"/>
          </a:p>
        </p:txBody>
      </p:sp>
      <p:sp>
        <p:nvSpPr>
          <p:cNvPr id="12" name="Text 8"/>
          <p:cNvSpPr/>
          <p:nvPr/>
        </p:nvSpPr>
        <p:spPr>
          <a:xfrm>
            <a:off x="4837176" y="5120640"/>
            <a:ext cx="2514600" cy="502920"/>
          </a:xfrm>
          <a:prstGeom prst="rect">
            <a:avLst/>
          </a:prstGeom>
          <a:noFill/>
          <a:ln/>
        </p:spPr>
        <p:txBody>
          <a:bodyPr wrap="square" rtlCol="0" anchor="ctr"/>
          <a:lstStyle/>
          <a:p>
            <a:pPr marL="0" indent="0" algn="ctr">
              <a:lnSpc>
                <a:spcPts val="1400"/>
              </a:lnSpc>
              <a:buNone/>
            </a:pPr>
            <a:r>
              <a:rPr lang="en-US" sz="1150" dirty="0">
                <a:solidFill>
                  <a:srgbClr val="5B6B73"/>
                </a:solidFill>
                <a:latin typeface="Calibri" pitchFamily="34" charset="0"/>
                <a:ea typeface="Calibri" pitchFamily="34" charset="-122"/>
                <a:cs typeface="Calibri" pitchFamily="34" charset="-120"/>
              </a:rPr>
              <a:t>Todavía se nota la grilla original</a:t>
            </a:r>
            <a:endParaRPr lang="en-US" sz="1150" dirty="0"/>
          </a:p>
        </p:txBody>
      </p:sp>
      <p:sp>
        <p:nvSpPr>
          <p:cNvPr id="13" name="Shape 9"/>
          <p:cNvSpPr/>
          <p:nvPr/>
        </p:nvSpPr>
        <p:spPr>
          <a:xfrm>
            <a:off x="7690104" y="2258568"/>
            <a:ext cx="2478024" cy="2478024"/>
          </a:xfrm>
          <a:prstGeom prst="roundRect">
            <a:avLst>
              <a:gd name="adj" fmla="val 2214"/>
            </a:avLst>
          </a:prstGeom>
          <a:solidFill>
            <a:srgbClr val="FFFFFF"/>
          </a:solidFill>
          <a:ln w="12700">
            <a:solidFill>
              <a:srgbClr val="D8E2E6"/>
            </a:solidFill>
            <a:prstDash val="solid"/>
          </a:ln>
          <a:effectLst>
            <a:outerShdw blurRad="76200" dist="25400" dir="5400000" algn="bl" rotWithShape="0">
              <a:srgbClr val="000000">
                <a:alpha val="10000"/>
              </a:srgbClr>
            </a:outerShdw>
          </a:effectLst>
        </p:spPr>
      </p:sp>
      <p:pic>
        <p:nvPicPr>
          <p:cNvPr id="14" name="Image 2" descr="img/cbc.png"/>
          <p:cNvPicPr>
            <a:picLocks noChangeAspect="1"/>
          </p:cNvPicPr>
          <p:nvPr/>
        </p:nvPicPr>
        <p:blipFill>
          <a:blip r:embed="rId5"/>
          <a:stretch>
            <a:fillRect/>
          </a:stretch>
        </p:blipFill>
        <p:spPr>
          <a:xfrm>
            <a:off x="7763256" y="2331720"/>
            <a:ext cx="2331720" cy="2331720"/>
          </a:xfrm>
          <a:prstGeom prst="rect">
            <a:avLst/>
          </a:prstGeom>
        </p:spPr>
      </p:pic>
      <p:sp>
        <p:nvSpPr>
          <p:cNvPr id="15" name="Text 10"/>
          <p:cNvSpPr/>
          <p:nvPr/>
        </p:nvSpPr>
        <p:spPr>
          <a:xfrm>
            <a:off x="7671816" y="4828032"/>
            <a:ext cx="2514600" cy="320040"/>
          </a:xfrm>
          <a:prstGeom prst="rect">
            <a:avLst/>
          </a:prstGeom>
          <a:noFill/>
          <a:ln/>
        </p:spPr>
        <p:txBody>
          <a:bodyPr wrap="square" rtlCol="0" anchor="ctr"/>
          <a:lstStyle/>
          <a:p>
            <a:pPr marL="0" indent="0" algn="ctr">
              <a:buNone/>
            </a:pPr>
            <a:r>
              <a:rPr lang="en-US" sz="1400" b="1" dirty="0">
                <a:solidFill>
                  <a:srgbClr val="21295C"/>
                </a:solidFill>
                <a:latin typeface="Calibri" pitchFamily="34" charset="0"/>
                <a:ea typeface="Calibri" pitchFamily="34" charset="-122"/>
                <a:cs typeface="Calibri" pitchFamily="34" charset="-120"/>
              </a:rPr>
              <a:t>Cifrada con CBC</a:t>
            </a:r>
            <a:endParaRPr lang="en-US" sz="1400" dirty="0"/>
          </a:p>
        </p:txBody>
      </p:sp>
      <p:sp>
        <p:nvSpPr>
          <p:cNvPr id="16" name="Text 11"/>
          <p:cNvSpPr/>
          <p:nvPr/>
        </p:nvSpPr>
        <p:spPr>
          <a:xfrm>
            <a:off x="7671816" y="5120640"/>
            <a:ext cx="2514600" cy="502920"/>
          </a:xfrm>
          <a:prstGeom prst="rect">
            <a:avLst/>
          </a:prstGeom>
          <a:noFill/>
          <a:ln/>
        </p:spPr>
        <p:txBody>
          <a:bodyPr wrap="square" rtlCol="0" anchor="ctr"/>
          <a:lstStyle/>
          <a:p>
            <a:pPr marL="0" indent="0" algn="ctr">
              <a:lnSpc>
                <a:spcPts val="1400"/>
              </a:lnSpc>
              <a:buNone/>
            </a:pPr>
            <a:r>
              <a:rPr lang="en-US" sz="1150" dirty="0">
                <a:solidFill>
                  <a:srgbClr val="5B6B73"/>
                </a:solidFill>
                <a:latin typeface="Calibri" pitchFamily="34" charset="0"/>
                <a:ea typeface="Calibri" pitchFamily="34" charset="-122"/>
                <a:cs typeface="Calibri" pitchFamily="34" charset="-120"/>
              </a:rPr>
              <a:t>Parece ruido puro — sin patrones</a:t>
            </a:r>
            <a:endParaRPr lang="en-US" sz="1150" dirty="0"/>
          </a:p>
        </p:txBody>
      </p:sp>
      <p:sp>
        <p:nvSpPr>
          <p:cNvPr id="17" name="Text 12"/>
          <p:cNvSpPr/>
          <p:nvPr/>
        </p:nvSpPr>
        <p:spPr>
          <a:xfrm>
            <a:off x="548640" y="6080760"/>
            <a:ext cx="10789920" cy="365760"/>
          </a:xfrm>
          <a:prstGeom prst="rect">
            <a:avLst/>
          </a:prstGeom>
          <a:noFill/>
          <a:ln/>
        </p:spPr>
        <p:txBody>
          <a:bodyPr wrap="square" rtlCol="0" anchor="ctr"/>
          <a:lstStyle/>
          <a:p>
            <a:pPr marL="0" indent="0" algn="ctr">
              <a:buNone/>
            </a:pPr>
            <a:r>
              <a:rPr lang="en-US" sz="1300" i="1" dirty="0">
                <a:solidFill>
                  <a:srgbClr val="1C7293"/>
                </a:solidFill>
                <a:latin typeface="Calibri" pitchFamily="34" charset="0"/>
                <a:ea typeface="Calibri" pitchFamily="34" charset="-122"/>
                <a:cs typeface="Calibri" pitchFamily="34" charset="-120"/>
              </a:rPr>
              <a:t>La grilla que sigue siendo visible en ECB es justamente lo que un atacante podría aprovechar — sin necesitar la clave.</a:t>
            </a:r>
            <a:endParaRPr lang="en-US" sz="1300" dirty="0"/>
          </a:p>
        </p:txBody>
      </p:sp>
      <p:sp>
        <p:nvSpPr>
          <p:cNvPr id="18" name="Text 13"/>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¿CÓMO SABEMOS QUE FUNCIONA BIEN?</a:t>
            </a:r>
            <a:endParaRPr lang="en-US" sz="13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Validado contra los vectores oficiales del NIST</a:t>
            </a:r>
            <a:endParaRPr lang="en-US" sz="3000" dirty="0"/>
          </a:p>
        </p:txBody>
      </p:sp>
      <p:sp>
        <p:nvSpPr>
          <p:cNvPr id="4" name="Text 2"/>
          <p:cNvSpPr/>
          <p:nvPr/>
        </p:nvSpPr>
        <p:spPr>
          <a:xfrm>
            <a:off x="548640" y="1783080"/>
            <a:ext cx="10789920" cy="777240"/>
          </a:xfrm>
          <a:prstGeom prst="rect">
            <a:avLst/>
          </a:prstGeom>
          <a:noFill/>
          <a:ln/>
        </p:spPr>
        <p:txBody>
          <a:bodyPr wrap="square" rtlCol="0" anchor="ctr"/>
          <a:lstStyle/>
          <a:p>
            <a:pPr marL="0" indent="0">
              <a:lnSpc>
                <a:spcPts val="2100"/>
              </a:lnSpc>
              <a:buNone/>
            </a:pPr>
            <a:r>
              <a:rPr lang="en-US" sz="1500" dirty="0">
                <a:solidFill>
                  <a:srgbClr val="1F2A33"/>
                </a:solidFill>
                <a:latin typeface="Calibri" pitchFamily="34" charset="0"/>
                <a:ea typeface="Calibri" pitchFamily="34" charset="-122"/>
                <a:cs typeface="Calibri" pitchFamily="34" charset="-120"/>
              </a:rPr>
              <a:t>El organismo que estandarizó AES publica resultados “oficiales” de </a:t>
            </a:r>
            <a:r>
              <a:rPr lang="en-US" sz="1500" dirty="0" err="1">
                <a:solidFill>
                  <a:srgbClr val="1F2A33"/>
                </a:solidFill>
                <a:latin typeface="Calibri" pitchFamily="34" charset="0"/>
                <a:ea typeface="Calibri" pitchFamily="34" charset="-122"/>
                <a:cs typeface="Calibri" pitchFamily="34" charset="-120"/>
              </a:rPr>
              <a:t>referencia</a:t>
            </a:r>
            <a:r>
              <a:rPr lang="en-US" sz="1500" dirty="0">
                <a:solidFill>
                  <a:srgbClr val="1F2A33"/>
                </a:solidFill>
                <a:latin typeface="Calibri" pitchFamily="34" charset="0"/>
                <a:ea typeface="Calibri" pitchFamily="34" charset="-122"/>
                <a:cs typeface="Calibri" pitchFamily="34" charset="-120"/>
              </a:rPr>
              <a:t>. </a:t>
            </a:r>
            <a:r>
              <a:rPr lang="en-US" sz="1500" dirty="0" err="1">
                <a:solidFill>
                  <a:srgbClr val="1F2A33"/>
                </a:solidFill>
                <a:latin typeface="Calibri" pitchFamily="34" charset="0"/>
                <a:ea typeface="Calibri" pitchFamily="34" charset="-122"/>
                <a:cs typeface="Calibri" pitchFamily="34" charset="-120"/>
              </a:rPr>
              <a:t>Comparamos</a:t>
            </a:r>
            <a:r>
              <a:rPr lang="en-US" sz="1500" dirty="0">
                <a:solidFill>
                  <a:srgbClr val="1F2A33"/>
                </a:solidFill>
                <a:latin typeface="Calibri" pitchFamily="34" charset="0"/>
                <a:ea typeface="Calibri" pitchFamily="34" charset="-122"/>
                <a:cs typeface="Calibri" pitchFamily="34" charset="-120"/>
              </a:rPr>
              <a:t> nuestra implementación contra esos casos.</a:t>
            </a:r>
            <a:endParaRPr lang="en-US" sz="1500" dirty="0"/>
          </a:p>
        </p:txBody>
      </p:sp>
      <p:sp>
        <p:nvSpPr>
          <p:cNvPr id="5" name="Shape 3"/>
          <p:cNvSpPr/>
          <p:nvPr/>
        </p:nvSpPr>
        <p:spPr>
          <a:xfrm>
            <a:off x="548640" y="2743200"/>
            <a:ext cx="3108960" cy="3017520"/>
          </a:xfrm>
          <a:prstGeom prst="roundRect">
            <a:avLst>
              <a:gd name="adj" fmla="val 3030"/>
            </a:avLst>
          </a:prstGeom>
          <a:solidFill>
            <a:srgbClr val="21295C"/>
          </a:solidFill>
          <a:ln/>
        </p:spPr>
      </p:sp>
      <p:sp>
        <p:nvSpPr>
          <p:cNvPr id="6" name="Text 4"/>
          <p:cNvSpPr/>
          <p:nvPr/>
        </p:nvSpPr>
        <p:spPr>
          <a:xfrm>
            <a:off x="548640" y="3154680"/>
            <a:ext cx="3108960" cy="1005840"/>
          </a:xfrm>
          <a:prstGeom prst="rect">
            <a:avLst/>
          </a:prstGeom>
          <a:noFill/>
          <a:ln/>
        </p:spPr>
        <p:txBody>
          <a:bodyPr wrap="square"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18 / 18</a:t>
            </a:r>
            <a:endParaRPr lang="en-US" sz="4600" dirty="0"/>
          </a:p>
        </p:txBody>
      </p:sp>
      <p:sp>
        <p:nvSpPr>
          <p:cNvPr id="7" name="Text 5"/>
          <p:cNvSpPr/>
          <p:nvPr/>
        </p:nvSpPr>
        <p:spPr>
          <a:xfrm>
            <a:off x="640080" y="4160520"/>
            <a:ext cx="2926080" cy="731520"/>
          </a:xfrm>
          <a:prstGeom prst="rect">
            <a:avLst/>
          </a:prstGeom>
          <a:noFill/>
          <a:ln/>
        </p:spPr>
        <p:txBody>
          <a:bodyPr wrap="square" rtlCol="0" anchor="ctr"/>
          <a:lstStyle/>
          <a:p>
            <a:pPr marL="0" indent="0" algn="ctr">
              <a:lnSpc>
                <a:spcPts val="1700"/>
              </a:lnSpc>
              <a:buNone/>
            </a:pPr>
            <a:r>
              <a:rPr lang="en-US" sz="1350" dirty="0">
                <a:solidFill>
                  <a:srgbClr val="C9D9E0"/>
                </a:solidFill>
                <a:latin typeface="Calibri" pitchFamily="34" charset="0"/>
                <a:ea typeface="Calibri" pitchFamily="34" charset="-122"/>
                <a:cs typeface="Calibri" pitchFamily="34" charset="-120"/>
              </a:rPr>
              <a:t>casos de prueba pasados</a:t>
            </a:r>
            <a:endParaRPr lang="en-US" sz="1350" dirty="0"/>
          </a:p>
          <a:p>
            <a:pPr marL="0" indent="0" algn="ctr">
              <a:lnSpc>
                <a:spcPts val="1700"/>
              </a:lnSpc>
              <a:buNone/>
            </a:pPr>
            <a:r>
              <a:rPr lang="en-US" sz="1350" dirty="0">
                <a:solidFill>
                  <a:srgbClr val="C9D9E0"/>
                </a:solidFill>
                <a:latin typeface="Calibri" pitchFamily="34" charset="0"/>
                <a:ea typeface="Calibri" pitchFamily="34" charset="-122"/>
                <a:cs typeface="Calibri" pitchFamily="34" charset="-120"/>
              </a:rPr>
              <a:t>sin errores</a:t>
            </a:r>
            <a:endParaRPr lang="en-US" sz="1350" dirty="0"/>
          </a:p>
        </p:txBody>
      </p:sp>
      <p:pic>
        <p:nvPicPr>
          <p:cNvPr id="8" name="Image 0" descr="icons/check_teal.png"/>
          <p:cNvPicPr>
            <a:picLocks noChangeAspect="1"/>
          </p:cNvPicPr>
          <p:nvPr/>
        </p:nvPicPr>
        <p:blipFill>
          <a:blip r:embed="rId3"/>
          <a:stretch>
            <a:fillRect/>
          </a:stretch>
        </p:blipFill>
        <p:spPr>
          <a:xfrm>
            <a:off x="4023360" y="2834640"/>
            <a:ext cx="274320" cy="274320"/>
          </a:xfrm>
          <a:prstGeom prst="rect">
            <a:avLst/>
          </a:prstGeom>
        </p:spPr>
      </p:pic>
      <p:sp>
        <p:nvSpPr>
          <p:cNvPr id="9" name="Text 6"/>
          <p:cNvSpPr/>
          <p:nvPr/>
        </p:nvSpPr>
        <p:spPr>
          <a:xfrm>
            <a:off x="4434840" y="2779776"/>
            <a:ext cx="6858000" cy="457200"/>
          </a:xfrm>
          <a:prstGeom prst="rect">
            <a:avLst/>
          </a:prstGeom>
          <a:noFill/>
          <a:ln/>
        </p:spPr>
        <p:txBody>
          <a:bodyPr wrap="square" rtlCol="0" anchor="ctr"/>
          <a:lstStyle/>
          <a:p>
            <a:pPr marL="0" indent="0">
              <a:buNone/>
            </a:pPr>
            <a:r>
              <a:rPr lang="en-US" sz="1400" dirty="0">
                <a:solidFill>
                  <a:srgbClr val="1F2A33"/>
                </a:solidFill>
                <a:latin typeface="Calibri" pitchFamily="34" charset="0"/>
                <a:ea typeface="Calibri" pitchFamily="34" charset="-122"/>
                <a:cs typeface="Calibri" pitchFamily="34" charset="-120"/>
              </a:rPr>
              <a:t>Vectores de bloque único de FIPS-197</a:t>
            </a:r>
            <a:endParaRPr lang="en-US" sz="1400" dirty="0"/>
          </a:p>
        </p:txBody>
      </p:sp>
      <p:pic>
        <p:nvPicPr>
          <p:cNvPr id="10" name="Image 1" descr="icons/check_teal.png"/>
          <p:cNvPicPr>
            <a:picLocks noChangeAspect="1"/>
          </p:cNvPicPr>
          <p:nvPr/>
        </p:nvPicPr>
        <p:blipFill>
          <a:blip r:embed="rId3"/>
          <a:stretch>
            <a:fillRect/>
          </a:stretch>
        </p:blipFill>
        <p:spPr>
          <a:xfrm>
            <a:off x="4023360" y="3429000"/>
            <a:ext cx="274320" cy="274320"/>
          </a:xfrm>
          <a:prstGeom prst="rect">
            <a:avLst/>
          </a:prstGeom>
        </p:spPr>
      </p:pic>
      <p:sp>
        <p:nvSpPr>
          <p:cNvPr id="11" name="Text 7"/>
          <p:cNvSpPr/>
          <p:nvPr/>
        </p:nvSpPr>
        <p:spPr>
          <a:xfrm>
            <a:off x="4434840" y="3374136"/>
            <a:ext cx="6858000" cy="457200"/>
          </a:xfrm>
          <a:prstGeom prst="rect">
            <a:avLst/>
          </a:prstGeom>
          <a:noFill/>
          <a:ln/>
        </p:spPr>
        <p:txBody>
          <a:bodyPr wrap="square" rtlCol="0" anchor="ctr"/>
          <a:lstStyle/>
          <a:p>
            <a:pPr marL="0" indent="0">
              <a:buNone/>
            </a:pPr>
            <a:r>
              <a:rPr lang="en-US" sz="1400" dirty="0">
                <a:solidFill>
                  <a:srgbClr val="1F2A33"/>
                </a:solidFill>
                <a:latin typeface="Calibri" pitchFamily="34" charset="0"/>
                <a:ea typeface="Calibri" pitchFamily="34" charset="-122"/>
                <a:cs typeface="Calibri" pitchFamily="34" charset="-120"/>
              </a:rPr>
              <a:t>Modo ECB contra SP 800-38A</a:t>
            </a:r>
            <a:endParaRPr lang="en-US" sz="1400" dirty="0"/>
          </a:p>
        </p:txBody>
      </p:sp>
      <p:pic>
        <p:nvPicPr>
          <p:cNvPr id="12" name="Image 2" descr="icons/check_teal.png"/>
          <p:cNvPicPr>
            <a:picLocks noChangeAspect="1"/>
          </p:cNvPicPr>
          <p:nvPr/>
        </p:nvPicPr>
        <p:blipFill>
          <a:blip r:embed="rId3"/>
          <a:stretch>
            <a:fillRect/>
          </a:stretch>
        </p:blipFill>
        <p:spPr>
          <a:xfrm>
            <a:off x="4023360" y="4023360"/>
            <a:ext cx="274320" cy="274320"/>
          </a:xfrm>
          <a:prstGeom prst="rect">
            <a:avLst/>
          </a:prstGeom>
        </p:spPr>
      </p:pic>
      <p:sp>
        <p:nvSpPr>
          <p:cNvPr id="13" name="Text 8"/>
          <p:cNvSpPr/>
          <p:nvPr/>
        </p:nvSpPr>
        <p:spPr>
          <a:xfrm>
            <a:off x="4434840" y="3968496"/>
            <a:ext cx="6858000" cy="457200"/>
          </a:xfrm>
          <a:prstGeom prst="rect">
            <a:avLst/>
          </a:prstGeom>
          <a:noFill/>
          <a:ln/>
        </p:spPr>
        <p:txBody>
          <a:bodyPr wrap="square" rtlCol="0" anchor="ctr"/>
          <a:lstStyle/>
          <a:p>
            <a:pPr marL="0" indent="0">
              <a:buNone/>
            </a:pPr>
            <a:r>
              <a:rPr lang="en-US" sz="1400" dirty="0">
                <a:solidFill>
                  <a:srgbClr val="1F2A33"/>
                </a:solidFill>
                <a:latin typeface="Calibri" pitchFamily="34" charset="0"/>
                <a:ea typeface="Calibri" pitchFamily="34" charset="-122"/>
                <a:cs typeface="Calibri" pitchFamily="34" charset="-120"/>
              </a:rPr>
              <a:t>Modo CBC contra SP 800-38A</a:t>
            </a:r>
            <a:endParaRPr lang="en-US" sz="1400" dirty="0"/>
          </a:p>
        </p:txBody>
      </p:sp>
      <p:pic>
        <p:nvPicPr>
          <p:cNvPr id="14" name="Image 3" descr="icons/check_teal.png"/>
          <p:cNvPicPr>
            <a:picLocks noChangeAspect="1"/>
          </p:cNvPicPr>
          <p:nvPr/>
        </p:nvPicPr>
        <p:blipFill>
          <a:blip r:embed="rId3"/>
          <a:stretch>
            <a:fillRect/>
          </a:stretch>
        </p:blipFill>
        <p:spPr>
          <a:xfrm>
            <a:off x="4023360" y="4617720"/>
            <a:ext cx="274320" cy="274320"/>
          </a:xfrm>
          <a:prstGeom prst="rect">
            <a:avLst/>
          </a:prstGeom>
        </p:spPr>
      </p:pic>
      <p:sp>
        <p:nvSpPr>
          <p:cNvPr id="15" name="Text 9"/>
          <p:cNvSpPr/>
          <p:nvPr/>
        </p:nvSpPr>
        <p:spPr>
          <a:xfrm>
            <a:off x="4434840" y="4562856"/>
            <a:ext cx="6858000" cy="457200"/>
          </a:xfrm>
          <a:prstGeom prst="rect">
            <a:avLst/>
          </a:prstGeom>
          <a:noFill/>
          <a:ln/>
        </p:spPr>
        <p:txBody>
          <a:bodyPr wrap="square" rtlCol="0" anchor="ctr"/>
          <a:lstStyle/>
          <a:p>
            <a:pPr marL="0" indent="0">
              <a:buNone/>
            </a:pPr>
            <a:r>
              <a:rPr lang="en-US" sz="1400" dirty="0">
                <a:solidFill>
                  <a:srgbClr val="1F2A33"/>
                </a:solidFill>
                <a:latin typeface="Calibri" pitchFamily="34" charset="0"/>
                <a:ea typeface="Calibri" pitchFamily="34" charset="-122"/>
                <a:cs typeface="Calibri" pitchFamily="34" charset="-120"/>
              </a:rPr>
              <a:t>Ida y vuelta con un mensaje propio y relleno PKCS#7</a:t>
            </a:r>
            <a:endParaRPr lang="en-US" sz="1400" dirty="0"/>
          </a:p>
        </p:txBody>
      </p:sp>
      <p:sp>
        <p:nvSpPr>
          <p:cNvPr id="16" name="Text 10"/>
          <p:cNvSpPr/>
          <p:nvPr/>
        </p:nvSpPr>
        <p:spPr>
          <a:xfrm>
            <a:off x="4023360" y="5257800"/>
            <a:ext cx="7315200" cy="457200"/>
          </a:xfrm>
          <a:prstGeom prst="rect">
            <a:avLst/>
          </a:prstGeom>
          <a:noFill/>
          <a:ln/>
        </p:spPr>
        <p:txBody>
          <a:bodyPr wrap="square" rtlCol="0" anchor="ctr"/>
          <a:lstStyle/>
          <a:p>
            <a:pPr marL="0" indent="0">
              <a:buNone/>
            </a:pPr>
            <a:r>
              <a:rPr lang="en-US" sz="1300" i="1" dirty="0">
                <a:solidFill>
                  <a:srgbClr val="5B6B73"/>
                </a:solidFill>
                <a:latin typeface="Calibri" pitchFamily="34" charset="0"/>
                <a:ea typeface="Calibri" pitchFamily="34" charset="-122"/>
                <a:cs typeface="Calibri" pitchFamily="34" charset="-120"/>
              </a:rPr>
              <a:t>Para algunos vectores, hasta coincidimos con el estado interno del cifrador ronda por ronda — la validación más exigente posible.</a:t>
            </a:r>
            <a:endParaRPr lang="en-US" sz="1300" dirty="0"/>
          </a:p>
        </p:txBody>
      </p:sp>
      <p:sp>
        <p:nvSpPr>
          <p:cNvPr id="17" name="Text 11"/>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MIRANDO HACIA ADELANTE</a:t>
            </a:r>
            <a:endParaRPr lang="en-US" sz="1300" dirty="0"/>
          </a:p>
        </p:txBody>
      </p:sp>
      <p:sp>
        <p:nvSpPr>
          <p:cNvPr id="3" name="Text 1"/>
          <p:cNvSpPr/>
          <p:nvPr/>
        </p:nvSpPr>
        <p:spPr>
          <a:xfrm>
            <a:off x="548640" y="713232"/>
            <a:ext cx="10789920" cy="82296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¿Qué tan vigente es AES, y </a:t>
            </a:r>
            <a:r>
              <a:rPr lang="en-US" sz="3000" b="1" dirty="0" err="1">
                <a:solidFill>
                  <a:srgbClr val="21295C"/>
                </a:solidFill>
                <a:latin typeface="Cambria" pitchFamily="34" charset="0"/>
                <a:ea typeface="Cambria" pitchFamily="34" charset="-122"/>
                <a:cs typeface="Cambria" pitchFamily="34" charset="-120"/>
              </a:rPr>
              <a:t>cuáles</a:t>
            </a:r>
            <a:r>
              <a:rPr lang="en-US" sz="3000" b="1" dirty="0">
                <a:solidFill>
                  <a:srgbClr val="21295C"/>
                </a:solidFill>
                <a:latin typeface="Cambria" pitchFamily="34" charset="0"/>
                <a:ea typeface="Cambria" pitchFamily="34" charset="-122"/>
                <a:cs typeface="Cambria" pitchFamily="34" charset="-120"/>
              </a:rPr>
              <a:t> son las </a:t>
            </a:r>
            <a:r>
              <a:rPr lang="en-US" sz="3000" b="1" dirty="0" err="1">
                <a:solidFill>
                  <a:srgbClr val="21295C"/>
                </a:solidFill>
                <a:latin typeface="Cambria" pitchFamily="34" charset="0"/>
                <a:ea typeface="Cambria" pitchFamily="34" charset="-122"/>
                <a:cs typeface="Cambria" pitchFamily="34" charset="-120"/>
              </a:rPr>
              <a:t>mejoras</a:t>
            </a:r>
            <a:r>
              <a:rPr lang="en-US" sz="3000" b="1" dirty="0">
                <a:solidFill>
                  <a:srgbClr val="21295C"/>
                </a:solidFill>
                <a:latin typeface="Cambria" pitchFamily="34" charset="0"/>
                <a:ea typeface="Cambria" pitchFamily="34" charset="-122"/>
                <a:cs typeface="Cambria" pitchFamily="34" charset="-120"/>
              </a:rPr>
              <a:t> </a:t>
            </a:r>
            <a:r>
              <a:rPr lang="en-US" sz="3000" b="1" dirty="0" err="1">
                <a:solidFill>
                  <a:srgbClr val="21295C"/>
                </a:solidFill>
                <a:latin typeface="Cambria" pitchFamily="34" charset="0"/>
                <a:ea typeface="Cambria" pitchFamily="34" charset="-122"/>
                <a:cs typeface="Cambria" pitchFamily="34" charset="-120"/>
              </a:rPr>
              <a:t>posibles</a:t>
            </a:r>
            <a:r>
              <a:rPr lang="en-US" sz="3000" b="1" dirty="0">
                <a:solidFill>
                  <a:srgbClr val="21295C"/>
                </a:solidFill>
                <a:latin typeface="Cambria" pitchFamily="34" charset="0"/>
                <a:ea typeface="Cambria" pitchFamily="34" charset="-122"/>
                <a:cs typeface="Cambria" pitchFamily="34" charset="-120"/>
              </a:rPr>
              <a:t>?</a:t>
            </a:r>
            <a:endParaRPr lang="en-US" sz="3000" dirty="0"/>
          </a:p>
        </p:txBody>
      </p:sp>
      <p:sp>
        <p:nvSpPr>
          <p:cNvPr id="4" name="Shape 2"/>
          <p:cNvSpPr/>
          <p:nvPr/>
        </p:nvSpPr>
        <p:spPr>
          <a:xfrm>
            <a:off x="548640" y="1783080"/>
            <a:ext cx="5120640" cy="3840480"/>
          </a:xfrm>
          <a:prstGeom prst="roundRect">
            <a:avLst>
              <a:gd name="adj" fmla="val 2381"/>
            </a:avLst>
          </a:prstGeom>
          <a:solidFill>
            <a:srgbClr val="EAF2F5"/>
          </a:solidFill>
          <a:ln/>
        </p:spPr>
      </p:sp>
      <p:sp>
        <p:nvSpPr>
          <p:cNvPr id="5" name="Shape 3"/>
          <p:cNvSpPr/>
          <p:nvPr/>
        </p:nvSpPr>
        <p:spPr>
          <a:xfrm>
            <a:off x="777240" y="1965960"/>
            <a:ext cx="457200" cy="457200"/>
          </a:xfrm>
          <a:prstGeom prst="ellipse">
            <a:avLst/>
          </a:prstGeom>
          <a:solidFill>
            <a:srgbClr val="065A82"/>
          </a:solidFill>
          <a:ln/>
        </p:spPr>
      </p:sp>
      <p:pic>
        <p:nvPicPr>
          <p:cNvPr id="6" name="Image 0" descr="icons/shield_white.png"/>
          <p:cNvPicPr>
            <a:picLocks noChangeAspect="1"/>
          </p:cNvPicPr>
          <p:nvPr/>
        </p:nvPicPr>
        <p:blipFill>
          <a:blip r:embed="rId3"/>
          <a:stretch>
            <a:fillRect/>
          </a:stretch>
        </p:blipFill>
        <p:spPr>
          <a:xfrm>
            <a:off x="896112" y="2084832"/>
            <a:ext cx="219456" cy="219456"/>
          </a:xfrm>
          <a:prstGeom prst="rect">
            <a:avLst/>
          </a:prstGeom>
        </p:spPr>
      </p:pic>
      <p:sp>
        <p:nvSpPr>
          <p:cNvPr id="7" name="Text 4"/>
          <p:cNvSpPr/>
          <p:nvPr/>
        </p:nvSpPr>
        <p:spPr>
          <a:xfrm>
            <a:off x="1371600" y="1993392"/>
            <a:ext cx="4114800" cy="365760"/>
          </a:xfrm>
          <a:prstGeom prst="rect">
            <a:avLst/>
          </a:prstGeom>
          <a:noFill/>
          <a:ln/>
        </p:spPr>
        <p:txBody>
          <a:bodyPr wrap="square" rtlCol="0" anchor="ctr"/>
          <a:lstStyle/>
          <a:p>
            <a:pPr marL="0" indent="0">
              <a:buNone/>
            </a:pPr>
            <a:r>
              <a:rPr lang="en-US" sz="1550" b="1" dirty="0">
                <a:solidFill>
                  <a:srgbClr val="21295C"/>
                </a:solidFill>
                <a:latin typeface="Calibri" pitchFamily="34" charset="0"/>
                <a:ea typeface="Calibri" pitchFamily="34" charset="-122"/>
                <a:cs typeface="Calibri" pitchFamily="34" charset="-120"/>
              </a:rPr>
              <a:t>Más de 20 años sin romperse</a:t>
            </a:r>
            <a:endParaRPr lang="en-US" sz="1550" dirty="0"/>
          </a:p>
        </p:txBody>
      </p:sp>
      <p:sp>
        <p:nvSpPr>
          <p:cNvPr id="8" name="Text 5"/>
          <p:cNvSpPr/>
          <p:nvPr/>
        </p:nvSpPr>
        <p:spPr>
          <a:xfrm>
            <a:off x="822960" y="2514600"/>
            <a:ext cx="4572000" cy="2926080"/>
          </a:xfrm>
          <a:prstGeom prst="rect">
            <a:avLst/>
          </a:prstGeom>
          <a:noFill/>
          <a:ln/>
        </p:spPr>
        <p:txBody>
          <a:bodyPr wrap="square" rtlCol="0" anchor="ctr"/>
          <a:lstStyle/>
          <a:p>
            <a:pPr marL="0" indent="0">
              <a:lnSpc>
                <a:spcPts val="2000"/>
              </a:lnSpc>
              <a:buNone/>
            </a:pPr>
            <a:r>
              <a:rPr lang="en-US" sz="1400" dirty="0">
                <a:solidFill>
                  <a:srgbClr val="1F2A33"/>
                </a:solidFill>
                <a:latin typeface="Calibri" pitchFamily="34" charset="0"/>
                <a:ea typeface="Calibri" pitchFamily="34" charset="-122"/>
                <a:cs typeface="Calibri" pitchFamily="34" charset="-120"/>
              </a:rPr>
              <a:t>A pesar de un volumen enorme de análisis académico, no existe ningún ataque práctico contra AES en sus configuraciones estándar. La </a:t>
            </a:r>
            <a:r>
              <a:rPr lang="en-US" sz="1400" dirty="0" err="1">
                <a:solidFill>
                  <a:srgbClr val="1F2A33"/>
                </a:solidFill>
                <a:latin typeface="Calibri" pitchFamily="34" charset="0"/>
                <a:ea typeface="Calibri" pitchFamily="34" charset="-122"/>
                <a:cs typeface="Calibri" pitchFamily="34" charset="-120"/>
              </a:rPr>
              <a:t>propia</a:t>
            </a:r>
            <a:r>
              <a:rPr lang="en-US" sz="1400" dirty="0">
                <a:solidFill>
                  <a:srgbClr val="1F2A33"/>
                </a:solidFill>
                <a:latin typeface="Calibri" pitchFamily="34" charset="0"/>
                <a:ea typeface="Calibri" pitchFamily="34" charset="-122"/>
                <a:cs typeface="Calibri" pitchFamily="34" charset="-120"/>
              </a:rPr>
              <a:t> NASA lo aprobó para información clasificada hasta el nivel más alto. La confianza no viene del secreto, sino de que cualquiera puede intentar romperlo — y nadie lo logró.</a:t>
            </a:r>
            <a:endParaRPr lang="en-US" sz="1400" dirty="0"/>
          </a:p>
        </p:txBody>
      </p:sp>
      <p:sp>
        <p:nvSpPr>
          <p:cNvPr id="9" name="Shape 6"/>
          <p:cNvSpPr/>
          <p:nvPr/>
        </p:nvSpPr>
        <p:spPr>
          <a:xfrm>
            <a:off x="5943600" y="1783080"/>
            <a:ext cx="5715000" cy="3840480"/>
          </a:xfrm>
          <a:prstGeom prst="roundRect">
            <a:avLst>
              <a:gd name="adj" fmla="val 2381"/>
            </a:avLst>
          </a:prstGeom>
          <a:solidFill>
            <a:srgbClr val="21295C"/>
          </a:solidFill>
          <a:ln/>
        </p:spPr>
      </p:sp>
      <p:sp>
        <p:nvSpPr>
          <p:cNvPr id="10" name="Text 7"/>
          <p:cNvSpPr/>
          <p:nvPr/>
        </p:nvSpPr>
        <p:spPr>
          <a:xfrm>
            <a:off x="6217920" y="1993392"/>
            <a:ext cx="5212080" cy="411480"/>
          </a:xfrm>
          <a:prstGeom prst="rect">
            <a:avLst/>
          </a:prstGeom>
          <a:noFill/>
          <a:ln/>
        </p:spPr>
        <p:txBody>
          <a:bodyPr wrap="square"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Próximos pasos para esta implementación</a:t>
            </a:r>
            <a:endParaRPr lang="en-US" sz="1550" dirty="0"/>
          </a:p>
        </p:txBody>
      </p:sp>
      <p:sp>
        <p:nvSpPr>
          <p:cNvPr id="11" name="Text 8"/>
          <p:cNvSpPr/>
          <p:nvPr/>
        </p:nvSpPr>
        <p:spPr>
          <a:xfrm>
            <a:off x="6217920" y="2606040"/>
            <a:ext cx="5212080" cy="320040"/>
          </a:xfrm>
          <a:prstGeom prst="rect">
            <a:avLst/>
          </a:prstGeom>
          <a:noFill/>
          <a:ln/>
        </p:spPr>
        <p:txBody>
          <a:bodyPr wrap="square" rtlCol="0" anchor="ctr"/>
          <a:lstStyle/>
          <a:p>
            <a:pPr marL="0" indent="0">
              <a:buNone/>
            </a:pPr>
            <a:r>
              <a:rPr lang="en-US" sz="1400" b="1" dirty="0">
                <a:solidFill>
                  <a:srgbClr val="8FCDE0"/>
                </a:solidFill>
                <a:latin typeface="Calibri" pitchFamily="34" charset="0"/>
                <a:ea typeface="Calibri" pitchFamily="34" charset="-122"/>
                <a:cs typeface="Calibri" pitchFamily="34" charset="-120"/>
              </a:rPr>
              <a:t>AES-192 y AES-256</a:t>
            </a:r>
            <a:endParaRPr lang="en-US" sz="1400" dirty="0"/>
          </a:p>
        </p:txBody>
      </p:sp>
      <p:sp>
        <p:nvSpPr>
          <p:cNvPr id="12" name="Text 9"/>
          <p:cNvSpPr/>
          <p:nvPr/>
        </p:nvSpPr>
        <p:spPr>
          <a:xfrm>
            <a:off x="6217920" y="2907792"/>
            <a:ext cx="5212080" cy="502920"/>
          </a:xfrm>
          <a:prstGeom prst="rect">
            <a:avLst/>
          </a:prstGeom>
          <a:noFill/>
          <a:ln/>
        </p:spPr>
        <p:txBody>
          <a:bodyPr wrap="square" rtlCol="0" anchor="ctr"/>
          <a:lstStyle/>
          <a:p>
            <a:pPr marL="0" indent="0">
              <a:lnSpc>
                <a:spcPts val="1600"/>
              </a:lnSpc>
              <a:buNone/>
            </a:pPr>
            <a:r>
              <a:rPr lang="en-US" sz="1250" dirty="0">
                <a:solidFill>
                  <a:srgbClr val="C9D9E0"/>
                </a:solidFill>
                <a:latin typeface="Calibri" pitchFamily="34" charset="0"/>
                <a:ea typeface="Calibri" pitchFamily="34" charset="-122"/>
                <a:cs typeface="Calibri" pitchFamily="34" charset="-120"/>
              </a:rPr>
              <a:t>Hoy solo cubrimos AES-128; extenderlo es un ajuste, no un rediseño.</a:t>
            </a:r>
            <a:endParaRPr lang="en-US" sz="1250" dirty="0"/>
          </a:p>
        </p:txBody>
      </p:sp>
      <p:sp>
        <p:nvSpPr>
          <p:cNvPr id="13" name="Text 10"/>
          <p:cNvSpPr/>
          <p:nvPr/>
        </p:nvSpPr>
        <p:spPr>
          <a:xfrm>
            <a:off x="6217920" y="3566160"/>
            <a:ext cx="5212080" cy="320040"/>
          </a:xfrm>
          <a:prstGeom prst="rect">
            <a:avLst/>
          </a:prstGeom>
          <a:noFill/>
          <a:ln/>
        </p:spPr>
        <p:txBody>
          <a:bodyPr wrap="square" rtlCol="0" anchor="ctr"/>
          <a:lstStyle/>
          <a:p>
            <a:pPr marL="0" indent="0">
              <a:buNone/>
            </a:pPr>
            <a:r>
              <a:rPr lang="en-US" sz="1400" b="1" dirty="0">
                <a:solidFill>
                  <a:srgbClr val="8FCDE0"/>
                </a:solidFill>
                <a:latin typeface="Calibri" pitchFamily="34" charset="0"/>
                <a:ea typeface="Calibri" pitchFamily="34" charset="-122"/>
                <a:cs typeface="Calibri" pitchFamily="34" charset="-120"/>
              </a:rPr>
              <a:t>Modo GCM</a:t>
            </a:r>
            <a:endParaRPr lang="en-US" sz="1400" dirty="0"/>
          </a:p>
        </p:txBody>
      </p:sp>
      <p:sp>
        <p:nvSpPr>
          <p:cNvPr id="14" name="Text 11"/>
          <p:cNvSpPr/>
          <p:nvPr/>
        </p:nvSpPr>
        <p:spPr>
          <a:xfrm>
            <a:off x="6217920" y="3867912"/>
            <a:ext cx="5212080" cy="502920"/>
          </a:xfrm>
          <a:prstGeom prst="rect">
            <a:avLst/>
          </a:prstGeom>
          <a:noFill/>
          <a:ln/>
        </p:spPr>
        <p:txBody>
          <a:bodyPr wrap="square" rtlCol="0" anchor="ctr"/>
          <a:lstStyle/>
          <a:p>
            <a:pPr marL="0" indent="0">
              <a:lnSpc>
                <a:spcPts val="1600"/>
              </a:lnSpc>
              <a:buNone/>
            </a:pPr>
            <a:r>
              <a:rPr lang="en-US" sz="1250" dirty="0">
                <a:solidFill>
                  <a:srgbClr val="C9D9E0"/>
                </a:solidFill>
                <a:latin typeface="Calibri" pitchFamily="34" charset="0"/>
                <a:ea typeface="Calibri" pitchFamily="34" charset="-122"/>
                <a:cs typeface="Calibri" pitchFamily="34" charset="-120"/>
              </a:rPr>
              <a:t>El más usado en la práctica hoy: agrega autenticación, no solo cifrado.</a:t>
            </a:r>
            <a:endParaRPr lang="en-US" sz="1250" dirty="0"/>
          </a:p>
        </p:txBody>
      </p:sp>
      <p:sp>
        <p:nvSpPr>
          <p:cNvPr id="15" name="Text 12"/>
          <p:cNvSpPr/>
          <p:nvPr/>
        </p:nvSpPr>
        <p:spPr>
          <a:xfrm>
            <a:off x="6217920" y="4526280"/>
            <a:ext cx="5212080" cy="320040"/>
          </a:xfrm>
          <a:prstGeom prst="rect">
            <a:avLst/>
          </a:prstGeom>
          <a:noFill/>
          <a:ln/>
        </p:spPr>
        <p:txBody>
          <a:bodyPr wrap="square" rtlCol="0" anchor="ctr"/>
          <a:lstStyle/>
          <a:p>
            <a:pPr marL="0" indent="0">
              <a:buNone/>
            </a:pPr>
            <a:r>
              <a:rPr lang="en-US" sz="1400" b="1" dirty="0">
                <a:solidFill>
                  <a:srgbClr val="8FCDE0"/>
                </a:solidFill>
                <a:latin typeface="Calibri" pitchFamily="34" charset="0"/>
                <a:ea typeface="Calibri" pitchFamily="34" charset="-122"/>
                <a:cs typeface="Calibri" pitchFamily="34" charset="-120"/>
              </a:rPr>
              <a:t>Derivar la clave de una contraseña</a:t>
            </a:r>
            <a:endParaRPr lang="en-US" sz="1400" dirty="0"/>
          </a:p>
        </p:txBody>
      </p:sp>
      <p:sp>
        <p:nvSpPr>
          <p:cNvPr id="16" name="Text 13"/>
          <p:cNvSpPr/>
          <p:nvPr/>
        </p:nvSpPr>
        <p:spPr>
          <a:xfrm>
            <a:off x="6217920" y="4828032"/>
            <a:ext cx="5212080" cy="502920"/>
          </a:xfrm>
          <a:prstGeom prst="rect">
            <a:avLst/>
          </a:prstGeom>
          <a:noFill/>
          <a:ln/>
        </p:spPr>
        <p:txBody>
          <a:bodyPr wrap="square" rtlCol="0" anchor="ctr"/>
          <a:lstStyle/>
          <a:p>
            <a:pPr marL="0" indent="0">
              <a:lnSpc>
                <a:spcPts val="1600"/>
              </a:lnSpc>
              <a:buNone/>
            </a:pPr>
            <a:r>
              <a:rPr lang="en-US" sz="1250" dirty="0">
                <a:solidFill>
                  <a:srgbClr val="C9D9E0"/>
                </a:solidFill>
                <a:latin typeface="Calibri" pitchFamily="34" charset="0"/>
                <a:ea typeface="Calibri" pitchFamily="34" charset="-122"/>
                <a:cs typeface="Calibri" pitchFamily="34" charset="-120"/>
              </a:rPr>
              <a:t>En vez de pedir la clave ya en hexadecimal.</a:t>
            </a:r>
            <a:endParaRPr lang="en-US" sz="1250" dirty="0"/>
          </a:p>
        </p:txBody>
      </p:sp>
      <p:sp>
        <p:nvSpPr>
          <p:cNvPr id="17" name="Text 14"/>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1371600" y="-1645920"/>
            <a:ext cx="4572000" cy="4572000"/>
          </a:xfrm>
          <a:prstGeom prst="ellipse">
            <a:avLst/>
          </a:prstGeom>
          <a:solidFill>
            <a:srgbClr val="065A82">
              <a:alpha val="40000"/>
            </a:srgbClr>
          </a:solidFill>
          <a:ln/>
        </p:spPr>
      </p:sp>
      <p:sp>
        <p:nvSpPr>
          <p:cNvPr id="3" name="Shape 1"/>
          <p:cNvSpPr/>
          <p:nvPr/>
        </p:nvSpPr>
        <p:spPr>
          <a:xfrm>
            <a:off x="9601200" y="4389120"/>
            <a:ext cx="4114800" cy="4114800"/>
          </a:xfrm>
          <a:prstGeom prst="ellipse">
            <a:avLst/>
          </a:prstGeom>
          <a:solidFill>
            <a:srgbClr val="1C7293">
              <a:alpha val="40000"/>
            </a:srgbClr>
          </a:solidFill>
          <a:ln/>
        </p:spPr>
      </p:sp>
      <p:sp>
        <p:nvSpPr>
          <p:cNvPr id="4" name="Text 2"/>
          <p:cNvSpPr/>
          <p:nvPr/>
        </p:nvSpPr>
        <p:spPr>
          <a:xfrm>
            <a:off x="594360" y="548640"/>
            <a:ext cx="7315200" cy="365760"/>
          </a:xfrm>
          <a:prstGeom prst="rect">
            <a:avLst/>
          </a:prstGeom>
          <a:noFill/>
          <a:ln/>
        </p:spPr>
        <p:txBody>
          <a:bodyPr wrap="square" rtlCol="0" anchor="ctr"/>
          <a:lstStyle/>
          <a:p>
            <a:pPr marL="0" indent="0">
              <a:buNone/>
            </a:pPr>
            <a:r>
              <a:rPr lang="en-US" sz="1300" b="1" kern="0" spc="200" dirty="0">
                <a:solidFill>
                  <a:srgbClr val="8FCDE0"/>
                </a:solidFill>
                <a:latin typeface="Calibri" pitchFamily="34" charset="0"/>
                <a:ea typeface="Calibri" pitchFamily="34" charset="-122"/>
                <a:cs typeface="Calibri" pitchFamily="34" charset="-120"/>
              </a:rPr>
              <a:t>CONCLUSIONES</a:t>
            </a:r>
            <a:endParaRPr lang="en-US" sz="1300" dirty="0"/>
          </a:p>
        </p:txBody>
      </p:sp>
      <p:sp>
        <p:nvSpPr>
          <p:cNvPr id="5" name="Text 3"/>
          <p:cNvSpPr/>
          <p:nvPr/>
        </p:nvSpPr>
        <p:spPr>
          <a:xfrm>
            <a:off x="594360" y="914400"/>
            <a:ext cx="10058400" cy="7315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Lo que nos llevamos de este proyecto</a:t>
            </a:r>
            <a:endParaRPr lang="en-US" sz="3000" dirty="0"/>
          </a:p>
        </p:txBody>
      </p:sp>
      <p:pic>
        <p:nvPicPr>
          <p:cNvPr id="6" name="Image 0" descr="icons/check_teal.png"/>
          <p:cNvPicPr>
            <a:picLocks noChangeAspect="1"/>
          </p:cNvPicPr>
          <p:nvPr/>
        </p:nvPicPr>
        <p:blipFill>
          <a:blip r:embed="rId3"/>
          <a:stretch>
            <a:fillRect/>
          </a:stretch>
        </p:blipFill>
        <p:spPr>
          <a:xfrm>
            <a:off x="594360" y="2048256"/>
            <a:ext cx="274320" cy="274320"/>
          </a:xfrm>
          <a:prstGeom prst="rect">
            <a:avLst/>
          </a:prstGeom>
        </p:spPr>
      </p:pic>
      <p:sp>
        <p:nvSpPr>
          <p:cNvPr id="7" name="Text 4"/>
          <p:cNvSpPr/>
          <p:nvPr/>
        </p:nvSpPr>
        <p:spPr>
          <a:xfrm>
            <a:off x="1051560" y="1965960"/>
            <a:ext cx="10058400" cy="777240"/>
          </a:xfrm>
          <a:prstGeom prst="rect">
            <a:avLst/>
          </a:prstGeom>
          <a:noFill/>
          <a:ln/>
        </p:spPr>
        <p:txBody>
          <a:bodyPr wrap="square" rtlCol="0" anchor="ctr"/>
          <a:lstStyle/>
          <a:p>
            <a:pPr marL="0" indent="0">
              <a:lnSpc>
                <a:spcPts val="2100"/>
              </a:lnSpc>
              <a:buNone/>
            </a:pPr>
            <a:r>
              <a:rPr lang="en-US" sz="1550" dirty="0">
                <a:solidFill>
                  <a:srgbClr val="E5EEF1"/>
                </a:solidFill>
                <a:latin typeface="Calibri" pitchFamily="34" charset="0"/>
                <a:ea typeface="Calibri" pitchFamily="34" charset="-122"/>
                <a:cs typeface="Calibri" pitchFamily="34" charset="-120"/>
              </a:rPr>
              <a:t>Programar AES desde cero, sin librerías, fue la mejor forma de entender por qué cada paso existe.</a:t>
            </a:r>
            <a:endParaRPr lang="en-US" sz="1550" dirty="0"/>
          </a:p>
        </p:txBody>
      </p:sp>
      <p:pic>
        <p:nvPicPr>
          <p:cNvPr id="8" name="Image 1" descr="icons/check_teal.png"/>
          <p:cNvPicPr>
            <a:picLocks noChangeAspect="1"/>
          </p:cNvPicPr>
          <p:nvPr/>
        </p:nvPicPr>
        <p:blipFill>
          <a:blip r:embed="rId3"/>
          <a:stretch>
            <a:fillRect/>
          </a:stretch>
        </p:blipFill>
        <p:spPr>
          <a:xfrm>
            <a:off x="594360" y="2962656"/>
            <a:ext cx="274320" cy="274320"/>
          </a:xfrm>
          <a:prstGeom prst="rect">
            <a:avLst/>
          </a:prstGeom>
        </p:spPr>
      </p:pic>
      <p:sp>
        <p:nvSpPr>
          <p:cNvPr id="9" name="Text 5"/>
          <p:cNvSpPr/>
          <p:nvPr/>
        </p:nvSpPr>
        <p:spPr>
          <a:xfrm>
            <a:off x="1051560" y="2880360"/>
            <a:ext cx="10058400" cy="777240"/>
          </a:xfrm>
          <a:prstGeom prst="rect">
            <a:avLst/>
          </a:prstGeom>
          <a:noFill/>
          <a:ln/>
        </p:spPr>
        <p:txBody>
          <a:bodyPr wrap="square" rtlCol="0" anchor="ctr"/>
          <a:lstStyle/>
          <a:p>
            <a:pPr marL="0" indent="0">
              <a:lnSpc>
                <a:spcPts val="2100"/>
              </a:lnSpc>
              <a:buNone/>
            </a:pPr>
            <a:r>
              <a:rPr lang="en-US" sz="1550" dirty="0">
                <a:solidFill>
                  <a:srgbClr val="E5EEF1"/>
                </a:solidFill>
                <a:latin typeface="Calibri" pitchFamily="34" charset="0"/>
                <a:ea typeface="Calibri" pitchFamily="34" charset="-122"/>
                <a:cs typeface="Calibri" pitchFamily="34" charset="-120"/>
              </a:rPr>
              <a:t>La validación contra los vectores oficiales del NIST confirma que la implementación es correcta, bit por bit.</a:t>
            </a:r>
            <a:endParaRPr lang="en-US" sz="1550" dirty="0"/>
          </a:p>
        </p:txBody>
      </p:sp>
      <p:pic>
        <p:nvPicPr>
          <p:cNvPr id="10" name="Image 2" descr="icons/check_teal.png"/>
          <p:cNvPicPr>
            <a:picLocks noChangeAspect="1"/>
          </p:cNvPicPr>
          <p:nvPr/>
        </p:nvPicPr>
        <p:blipFill>
          <a:blip r:embed="rId3"/>
          <a:stretch>
            <a:fillRect/>
          </a:stretch>
        </p:blipFill>
        <p:spPr>
          <a:xfrm>
            <a:off x="594360" y="3877056"/>
            <a:ext cx="274320" cy="274320"/>
          </a:xfrm>
          <a:prstGeom prst="rect">
            <a:avLst/>
          </a:prstGeom>
        </p:spPr>
      </p:pic>
      <p:sp>
        <p:nvSpPr>
          <p:cNvPr id="11" name="Text 6"/>
          <p:cNvSpPr/>
          <p:nvPr/>
        </p:nvSpPr>
        <p:spPr>
          <a:xfrm>
            <a:off x="1051560" y="3794760"/>
            <a:ext cx="10058400" cy="777240"/>
          </a:xfrm>
          <a:prstGeom prst="rect">
            <a:avLst/>
          </a:prstGeom>
          <a:noFill/>
          <a:ln/>
        </p:spPr>
        <p:txBody>
          <a:bodyPr wrap="square" rtlCol="0" anchor="ctr"/>
          <a:lstStyle/>
          <a:p>
            <a:pPr marL="0" indent="0">
              <a:lnSpc>
                <a:spcPts val="2100"/>
              </a:lnSpc>
              <a:buNone/>
            </a:pPr>
            <a:r>
              <a:rPr lang="en-US" sz="1550" dirty="0">
                <a:solidFill>
                  <a:srgbClr val="E5EEF1"/>
                </a:solidFill>
                <a:latin typeface="Calibri" pitchFamily="34" charset="0"/>
                <a:ea typeface="Calibri" pitchFamily="34" charset="-122"/>
                <a:cs typeface="Calibri" pitchFamily="34" charset="-120"/>
              </a:rPr>
              <a:t>El experimento con la imagen mostró en la práctica algo que en teoría suena abstracto: el modo de uso importa tanto como el algoritmo en sí.</a:t>
            </a:r>
            <a:endParaRPr lang="en-US" sz="1550" dirty="0"/>
          </a:p>
        </p:txBody>
      </p:sp>
      <p:pic>
        <p:nvPicPr>
          <p:cNvPr id="12" name="Image 3" descr="icons/check_teal.png"/>
          <p:cNvPicPr>
            <a:picLocks noChangeAspect="1"/>
          </p:cNvPicPr>
          <p:nvPr/>
        </p:nvPicPr>
        <p:blipFill>
          <a:blip r:embed="rId3"/>
          <a:stretch>
            <a:fillRect/>
          </a:stretch>
        </p:blipFill>
        <p:spPr>
          <a:xfrm>
            <a:off x="594360" y="4791456"/>
            <a:ext cx="274320" cy="274320"/>
          </a:xfrm>
          <a:prstGeom prst="rect">
            <a:avLst/>
          </a:prstGeom>
        </p:spPr>
      </p:pic>
      <p:sp>
        <p:nvSpPr>
          <p:cNvPr id="13" name="Text 7"/>
          <p:cNvSpPr/>
          <p:nvPr/>
        </p:nvSpPr>
        <p:spPr>
          <a:xfrm>
            <a:off x="1051560" y="4709160"/>
            <a:ext cx="10058400" cy="777240"/>
          </a:xfrm>
          <a:prstGeom prst="rect">
            <a:avLst/>
          </a:prstGeom>
          <a:noFill/>
          <a:ln/>
        </p:spPr>
        <p:txBody>
          <a:bodyPr wrap="square" rtlCol="0" anchor="ctr"/>
          <a:lstStyle/>
          <a:p>
            <a:pPr marL="0" indent="0">
              <a:lnSpc>
                <a:spcPts val="2100"/>
              </a:lnSpc>
              <a:buNone/>
            </a:pPr>
            <a:r>
              <a:rPr lang="en-US" sz="1550" dirty="0">
                <a:solidFill>
                  <a:srgbClr val="E5EEF1"/>
                </a:solidFill>
                <a:latin typeface="Calibri" pitchFamily="34" charset="0"/>
                <a:ea typeface="Calibri" pitchFamily="34" charset="-122"/>
                <a:cs typeface="Calibri" pitchFamily="34" charset="-120"/>
              </a:rPr>
              <a:t>AES sigue siendo, más de dos décadas después, el cifrador simétrico más usado y confiable del mundo.</a:t>
            </a:r>
            <a:endParaRPr lang="en-US" sz="1550" dirty="0"/>
          </a:p>
        </p:txBody>
      </p:sp>
      <p:sp>
        <p:nvSpPr>
          <p:cNvPr id="14" name="Text 8"/>
          <p:cNvSpPr/>
          <p:nvPr/>
        </p:nvSpPr>
        <p:spPr>
          <a:xfrm>
            <a:off x="594360" y="5943600"/>
            <a:ext cx="7315200" cy="457200"/>
          </a:xfrm>
          <a:prstGeom prst="rect">
            <a:avLst/>
          </a:prstGeom>
          <a:noFill/>
          <a:ln/>
        </p:spPr>
        <p:txBody>
          <a:bodyPr wrap="square" rtlCol="0" anchor="ctr"/>
          <a:lstStyle/>
          <a:p>
            <a:pPr marL="0" indent="0">
              <a:buNone/>
            </a:pPr>
            <a:r>
              <a:rPr lang="en-US" sz="1500" i="1" dirty="0">
                <a:solidFill>
                  <a:srgbClr val="8FA3AC"/>
                </a:solidFill>
                <a:latin typeface="Calibri" pitchFamily="34" charset="0"/>
                <a:ea typeface="Calibri" pitchFamily="34" charset="-122"/>
                <a:cs typeface="Calibri" pitchFamily="34" charset="-120"/>
              </a:rPr>
              <a:t>¡Gracias!.</a:t>
            </a:r>
            <a:endParaRPr lang="en-US" sz="1500" dirty="0"/>
          </a:p>
        </p:txBody>
      </p:sp>
      <p:sp>
        <p:nvSpPr>
          <p:cNvPr id="15" name="Text 9"/>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1510</Words>
  <Application>Microsoft Office PowerPoint</Application>
  <PresentationFormat>Panorámica</PresentationFormat>
  <Paragraphs>192</Paragraphs>
  <Slides>15</Slides>
  <Notes>15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AES: Cómo funciona el cifrado que usamos todos los días</dc:title>
  <dc:subject>PptxGenJS Presentation</dc:subject>
  <dc:creator>Grupo AES - UNLaM</dc:creator>
  <cp:lastModifiedBy>Fede Castro</cp:lastModifiedBy>
  <cp:revision>2</cp:revision>
  <dcterms:created xsi:type="dcterms:W3CDTF">2026-06-23T02:35:28Z</dcterms:created>
  <dcterms:modified xsi:type="dcterms:W3CDTF">2026-06-23T02:50:31Z</dcterms:modified>
</cp:coreProperties>
</file>